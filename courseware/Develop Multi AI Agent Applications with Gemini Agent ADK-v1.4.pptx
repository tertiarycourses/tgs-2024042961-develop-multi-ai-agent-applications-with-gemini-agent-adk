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course (%)</c:v>
                </c:pt>
              </c:strCache>
            </c:strRef>
          </c:tx>
          <c:spPr>
            <a:solidFill>
              <a:srgbClr val="1F6FEB"/>
            </a:solidFill>
          </c:spPr>
          <c:cat>
            <c:strRef>
              <c:f>Sheet1!$A$2:$A$5</c:f>
              <c:strCache>
                <c:ptCount val="4"/>
                <c:pt idx="0">
                  <c:v>Topic 1 — Agentic AI Overview</c:v>
                </c:pt>
                <c:pt idx="1">
                  <c:v>Topic 2 — Multi-Agent Apps</c:v>
                </c:pt>
                <c:pt idx="2">
                  <c:v>Topic 3 — Agentic RAG</c:v>
                </c:pt>
                <c:pt idx="3">
                  <c:v>Topic 4 — Streamlit App</c:v>
                </c:pt>
              </c:strCache>
            </c:strRef>
          </c:cat>
          <c:val>
            <c:numRef>
              <c:f>Sheet1!$B$2:$B$5</c:f>
              <c:numCache>
                <c:formatCode>0"%"</c:formatCode>
                <c:ptCount val="4"/>
                <c:pt idx="0">
                  <c:v>25</c:v>
                </c:pt>
                <c:pt idx="1">
                  <c:v>35</c:v>
                </c:pt>
                <c:pt idx="2">
                  <c:v>25</c:v>
                </c:pt>
                <c:pt idx="3">
                  <c:v>15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000">
                  <a:solidFill>
                    <a:srgbClr val="161B26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161B26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Relative cost per 1K calls</c:v>
                </c:pt>
              </c:strCache>
            </c:strRef>
          </c:tx>
          <c:spPr>
            <a:solidFill>
              <a:srgbClr val="1F6FEB"/>
            </a:solidFill>
          </c:spPr>
          <c:cat>
            <c:strRef>
              <c:f>Sheet1!$A$2:$A$4</c:f>
              <c:strCache>
                <c:ptCount val="3"/>
                <c:pt idx="0">
                  <c:v>Flash</c:v>
                </c:pt>
                <c:pt idx="1">
                  <c:v>Pro</c:v>
                </c:pt>
                <c:pt idx="2">
                  <c:v>Ultra</c:v>
                </c:pt>
              </c:strCache>
            </c:strRef>
          </c:cat>
          <c:val>
            <c:numRef>
              <c:f>Sheet1!$B$2:$B$4</c:f>
              <c:numCache>
                <c:formatCode>0</c:formatCode>
                <c:ptCount val="3"/>
                <c:pt idx="0">
                  <c:v>1</c:v>
                </c:pt>
                <c:pt idx="1">
                  <c:v>7</c:v>
                </c:pt>
                <c:pt idx="2">
                  <c:v>21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Relative latency</c:v>
                </c:pt>
              </c:strCache>
            </c:strRef>
          </c:tx>
          <c:spPr>
            <a:solidFill>
              <a:srgbClr val="10B981"/>
            </a:solidFill>
          </c:spPr>
          <c:cat>
            <c:strRef>
              <c:f>Sheet1!$A$2:$A$4</c:f>
              <c:strCache>
                <c:ptCount val="3"/>
                <c:pt idx="0">
                  <c:v>Flash</c:v>
                </c:pt>
                <c:pt idx="1">
                  <c:v>Pro</c:v>
                </c:pt>
                <c:pt idx="2">
                  <c:v>Ultra</c:v>
                </c:pt>
              </c:strCache>
            </c:strRef>
          </c:cat>
          <c:val>
            <c:numRef>
              <c:f>Sheet1!$C$2:$C$4</c:f>
              <c:numCache>
                <c:formatCode>0</c:formatCode>
                <c:ptCount val="3"/>
                <c:pt idx="0">
                  <c:v>1</c:v>
                </c:pt>
                <c:pt idx="1">
                  <c:v>3</c:v>
                </c:pt>
                <c:pt idx="2">
                  <c:v>6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000">
                  <a:solidFill>
                    <a:srgbClr val="161B26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200">
          <a:solidFill>
            <a:srgbClr val="161B26"/>
          </a:solidFill>
          <a:latin typeface="Arial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ertiary-infotec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40080"/>
            <a:ext cx="960120" cy="9601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9829800" y="603504"/>
            <a:ext cx="1691640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713232"/>
            <a:ext cx="169164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GEMINI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29800" y="1207008"/>
            <a:ext cx="1691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AGENT ADK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10312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COURSE SLIDES  ·  WSQ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606040"/>
            <a:ext cx="109728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Develop Multi AI Agent Applications with Gemini Agent ADK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" y="4343400"/>
            <a:ext cx="219456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61772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WSQ Course Code: TGS-2024042961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Conducted by Tertiary Infotech Academy Pte Ltd  ·  UEN 201200696W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943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Version v1.4  ·  15 September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263640"/>
            <a:ext cx="1097280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© 2026 Tertiary Infotech Academy Pte Ltd. All rights reserved.  ·  www.tertiarycourses.com.sg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COURSE ADMINISTRATION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Welcome &amp; Housekeeping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TRAQOM · SSG DIGITAL ATTENDANCE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Three times a day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Take the AM, PM and Assessment digital attendance — mandatory for every WSQ-funded course.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Trainer shows the QR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The trainer or administrator displays the digital attendance QR code from the SSG portal.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Scan and submit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Scan the QR code with your mobile phone camera and submit your attendance.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75% minimum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 minimum of 75% attendance is required to be eligible for assessment and funding.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YOUR TRAINER · GENERAL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68780" y="2286000"/>
            <a:ext cx="1554480" cy="1554480"/>
          </a:xfrm>
          <a:prstGeom prst="ellipse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68780" y="2286000"/>
            <a:ext cx="15544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60520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Your Trainer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754880"/>
            <a:ext cx="3063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General Trainer template —
to be completed by the trainer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178308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1783080"/>
            <a:ext cx="91440" cy="5638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73168" y="178308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NAME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52984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80560" y="2529840"/>
            <a:ext cx="91440" cy="5638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73168" y="252984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TITLE / DESIGNATION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0" y="327660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80560" y="3276600"/>
            <a:ext cx="91440" cy="5638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73168" y="327660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QUALIFICATIONS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402336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80560" y="4023360"/>
            <a:ext cx="91440" cy="5638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73168" y="402336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AREAS OF EXPERTISE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80560" y="477012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80560" y="4770120"/>
            <a:ext cx="91440" cy="5638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73168" y="477012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TRAINING &amp; INDUSTRY EXPERIENCE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80560" y="551688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480560" y="5516880"/>
            <a:ext cx="91440" cy="5638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73168" y="551688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CONTACT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YOUR TRAINER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68780" y="2286000"/>
            <a:ext cx="1554480" cy="15544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68780" y="2286000"/>
            <a:ext cx="15544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AA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60520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Dr Alfred Ang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754880"/>
            <a:ext cx="3063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Principal Trainer
Tertiary Infotech Academy Pte Ltd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178308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1783080"/>
            <a:ext cx="91440" cy="9372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73168" y="178308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ROLE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Principal Trainer, Tertiary Infotech Academy Pte Ltd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90322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80560" y="2903220"/>
            <a:ext cx="91440" cy="9372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73168" y="290322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EXPERTISE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Generative AI, Large Language Models, agentic AI systems and applied machine learning.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0" y="402336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80560" y="4023360"/>
            <a:ext cx="91440" cy="9372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73168" y="402336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DELIVERS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WSQ courses on AI, LLM application development, prompt engineering and data science.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514350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80560" y="5143500"/>
            <a:ext cx="91440" cy="9372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73168" y="514350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FOUNDER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Founder and lead instructor at Tertiary Infotech / Tertiary Courses.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ICE-BREAKER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Let's Know Each Other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Your name, organisation and role.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Your experience with Python, APIs and Generative AI tools (if any).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What you would like to automate or build with AI agents after this course.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HOUSEKEEPING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Ground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Set your mobile phone to silent mode.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Participate actively — no question is too small.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Mutual respect: agree to disagree.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One conversation at a time.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Be punctual; return from breaks on time.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75% attendance is required.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LMS / TMS  ·  lms-tms.tertiaryinfotech.com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Download Your Course Material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1 · Go to the LMS portal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Open https://lms-tms.tertiaryinfotech.com in your browser.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2 · Log in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Sign in with the account e-mail you used to register for this course.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3 · Open this course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Select 'Develop Multi AI Agent Applications with Gemini Agent ADK'.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4 · Download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Download the Trainer Slides, Learner Guide and Lesson Plan (PDF).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5 · Get the labs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Clone the lab repository from GitHub — the link is on the course page.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6 · Keep them open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You may use these materials during the open-book assessment.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SKILLS FRAMEWORK  ·  TSC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Skills Framework Alignment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TSC Title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Artificial Intelligence Application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TSC Code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AER-TEM-4026-1.1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A1 / A2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Analyse algorithms in AI applications; correlate algorithm design with efficiency.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A3 / A4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Identify and compare the strengths and limitations of AI applications.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A5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Assess the feasibility of AI applications for engineering processes.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A6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Assess the improvements AI applications bring to engineering processes.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SCHEDULE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Lesson Plan — 2 Days, 8 hours/day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Day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Day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Day 1 — Agentic AI foundations with Gemini ADK — first agents, tools, sessions and multi-agent handoff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Digital Attendance (AM) · Introductions · Learning Outcomes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Topic 1: Overview of Agentic AI in Gemini ADK (Labs 1–4)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Lunch Break · Digital Attendance (PM)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Topic 2: Build A Multi Agent App with Gemini ADK begins (Labs 5–8)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Day 2 — Multi-agent systems, agentic RAG and shipping an agent app with Streamlit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Topic 2 continues (Labs 9–12)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Topic 3: Build Agentic AI RAG in Gemini ADK (Labs 13–15)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Topic 4: Agentic AI App with Streamlit (Labs 16–18)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TRAQOM Survey · Digital Attendance (Assessment)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Final Assessment (WA + PP)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YOU'LL ACHIEVE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Learning Outcomes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LO1 · Analyse LLM applications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Analyze the range of LLM applications using Generative AI and identify their industrial use cases.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LO2 · Establish Gemini designs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Establish Google Gemini GAI designs and assess improvements on engineering processes.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LO3 · Develop LLM applications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Develop LLM applications with the Agent Development Kit and assess their feasibility.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LO4 · Evaluate RAG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Evaluate the performance effectiveness of Retrieval Augmented Generation.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FOUR TOPICS  ·  18 HANDS-ON LABS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Course Outline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1965960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196596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9427464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Topic 1 — Overview of Agentic AI in Gemini ADK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LLM &amp; agentic AI foundations · the Gemini model family · ADK architecture · your first agent · tools.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935224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935224"/>
            <a:ext cx="91440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33272" y="311810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3272" y="311810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64792" y="3063240"/>
            <a:ext cx="9427464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Topic 2 — Build A Multi Agent App with Gemini ADK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Sessions &amp; state · handoff · coordinator · Sequential, Parallel, Loop &amp; Agent-as-a-Tool · guardrails · MCP.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270248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27024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9427464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Topic 3 — Build Agentic AI RAG in Gemini ADK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The RAG pipeline · loading &amp; splitting · embeddings · vector stores · retrieval · evaluation.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5239512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5239512"/>
            <a:ext cx="91440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3272" y="5422392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2" y="542239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64792" y="5367528"/>
            <a:ext cx="9427464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Topic 4 — Agentic AI App with Gemini ADK and Streamlit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YAML agents · Streamlit chat UI · async Runner · deployment and feasibility · capstone.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BEFORE YOU START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Briefing for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Do · Clear your desk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Place phones and other materials under the table or on the floor.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Don't · No recording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No photos or recording of assessment scripts.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Don't · No discussion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Work individually — no discussion during the assessment.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Do · Black or blue pen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a black or blue pen for hard-copy assessments.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Don't · No correction fluid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No liquid paper or correction tape may be used.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Do · Stop on time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Scripts are collected when time is up.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FINAL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Written Assessment (WA)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Short-Answer Questions (SAQ) · 1 hour · open book. Tests the underpinning knowledge taught in the slides.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Practical Performance (PP)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Hands-on Gemini ADK agent build tasks · 1 hour · open book. Tests the ability you built in the labs.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Open book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You may use the course slides, the Learner Guide and approved materials only.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Eligibility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minimum of 75% attendance is required to be eligible for assessment and funding.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Result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You are assessed as Competent (C) or Not Yet Competent (NYC) on each instrument.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Appeals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An appeal process is available if you wish to contest an assessment outcome.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ON ASSESSMENT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1819656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03604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3604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1563624" cy="6126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TRAQOM survey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Scan the LMS QR code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651760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980944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80944" y="2148840"/>
            <a:ext cx="1819656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7308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7308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3118104"/>
            <a:ext cx="1563624" cy="6126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Digital attendance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72384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Scan the SSG assessment QR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855464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184648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84648" y="2148840"/>
            <a:ext cx="1819656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811012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1101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12664" y="3118104"/>
            <a:ext cx="1563624" cy="6126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Sit WA then PP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76088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Open book · 1 hour each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59168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388352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88352" y="2148840"/>
            <a:ext cx="1819656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014716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14716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16368" y="3118104"/>
            <a:ext cx="1563624" cy="6126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Submit on the LMS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79792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Upload your answers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262872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9592056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592056" y="2148840"/>
            <a:ext cx="1819656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218420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218420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20072" y="3118104"/>
            <a:ext cx="1563624" cy="6126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Sign the record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83496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Sign the Summary Record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REMEMBER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All five steps are mandatory for WSQ funding — missing the digital attendance or the TRAQOM survey can invalidate your claim.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PREPARE FOR THE WA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Practice Exam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Where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Practice questions are available at https://exams.tertiaryinfotech.com — sign in with your LMS account.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Why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Practising under exam conditions is the best predictor of passing the Written Assessment.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What it covers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The same four topics and learning outcomes as the WA — agentic AI, multi-agent workflows, RAG and deployment.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When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Attempt it after each day's labs, and again the evening before the assessment.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Format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Short-answer questions in the same style as the WA (SAQ), with worked answers.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Unlimited attempts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Retake it as often as you like — your practice score does not affect your WSQ result.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WSQ FUNDING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Criteria for Funding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Attendance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 minimum attendance rate of 75%, based on the SSG Digital Attendance record.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Assessment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Complete both assessment components and be assessed as 'Competent'.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Digital attendance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Scan the SSG QR code for AM, PM and Assessment on every training day.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TRAQOM survey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Complete the mandatory TRAQOM course feedback survey on the LMS.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ENVIRONMENT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Set Up Before We Start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Google account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Sign in to Google AI Studio at https://aistudio.google.com to create a free API key.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Python 3.13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Install Python 3.13 and the uv package manager for the lab environment.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Lab repository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Clone the course labs from GitHub — the link is on your LMS course page.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Editor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VS Code or any editor you are comfortable with for editing agent.py files.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Optional keys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OpenWeather and Tavily free API keys are used by the tool-calling labs.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ADK docs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Bookmark the official ADK documentation at https://google.github.io/adk-docs/.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CORE CONCEPTS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From Large Language Models to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is a Large Language Model?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 model of language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An LLM such as Gemini, GPT-4 or Claude is trained to understand and generate human language.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Why 'large'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Large in both the volume of training data and the model's complexity — hundreds of billions of parameters.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Autoregressive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It predicts the next token, one token at a time, conditioned on everything written so far.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Trained then inferred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Training builds the model from a huge corpus; inference is the prompt-and-response you use every day.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AUTOREGRESSIVE GENERATION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an LLM Produces an Answer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Your prompt is broken into tokens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The model attends over the full context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It predicts the most likely next token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The token is appended and the loop repeats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Generation stops at a stop token or limit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LO1 · WHERE LLMs ARE USED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Opportunities of LLM Applications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683971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1850745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1850745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53766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Content creation and writing assistance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683971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1850745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1850745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53766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Customer support and chatbots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2704795"/>
            <a:ext cx="5180076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2704795"/>
            <a:ext cx="91440" cy="683971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277246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277246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2796235"/>
            <a:ext cx="3973068" cy="53766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Language translation and localisation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2704795"/>
            <a:ext cx="5180076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2704795"/>
            <a:ext cx="91440" cy="683971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277246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277246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2796235"/>
            <a:ext cx="3973068" cy="53766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Educational and tutoring tools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3626510"/>
            <a:ext cx="5180076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3626510"/>
            <a:ext cx="91440" cy="683971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3694175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3694175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3717950"/>
            <a:ext cx="3973068" cy="53766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Business intelligence and analytics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3626510"/>
            <a:ext cx="5180076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3626510"/>
            <a:ext cx="91440" cy="683971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3694175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3694175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3717950"/>
            <a:ext cx="3973068" cy="53766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Coding and software development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548225"/>
            <a:ext cx="5180076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4548225"/>
            <a:ext cx="91440" cy="683971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33272" y="461589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33272" y="461589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64792" y="4639665"/>
            <a:ext cx="3973068" cy="53766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Legal and compliance assistance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31636" y="4548225"/>
            <a:ext cx="5180076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231636" y="4548225"/>
            <a:ext cx="91440" cy="683971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487668" y="461589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87668" y="461589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19188" y="4639665"/>
            <a:ext cx="3973068" cy="53766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Healthcare and clinical documentation support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7240" y="5469940"/>
            <a:ext cx="5180076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7240" y="5469940"/>
            <a:ext cx="91440" cy="683971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033272" y="5537605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33272" y="5537605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764792" y="5561380"/>
            <a:ext cx="3973068" cy="53766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Enhanced search and knowledge discovery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31636" y="5469940"/>
            <a:ext cx="5180076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231636" y="5469940"/>
            <a:ext cx="91440" cy="683971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487668" y="5537605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87668" y="5537605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219188" y="5561380"/>
            <a:ext cx="3973068" cy="53766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Accessibility for persons with disabilities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LO1 · INDUSTRIAL USE CASES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Industry Use Cases of Generative AI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Finance &amp; Legal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Automated financial reporting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Risk assessment and analysis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Fraud detection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Contract review and drafting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Regulatory compliance monitoring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Marketing &amp; eCommerce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Content and copy generation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Personalised recommendations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Customer sentiment analysis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SEO and campaign optimisation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Product description generation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Education &amp; Healthcare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Personalised learning assistance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Automated grading and feedback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Clinical documentation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Medical imaging support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Virtual health assistants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THE 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Popular Large Language Models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Google Gemini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Natively multimodal; Ultra, Pro, Flash and Nano variants — the model family used in this course.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OpenAI GPT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Widely adopted general-purpose family; reachable from ADK through the LiteLlm wrapper.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Anthropic Claude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Strong long-context reasoning and writing; also reachable through LiteLlm.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Open models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Meta Llama and Mistral can be self-hosted or run locally through Ollama for data-residency needs.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WHY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An LLM answers. An agent acts.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Agentic AI adds reasoning, memory, tool use and autonomy on top of a language model — so it can complete tasks, not just produce text.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THE SIX INGREDIENTS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Makes a System 'Agentic'?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Reasoning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The model plans a sequence of steps instead of answering in one shot.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Tool use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It calls functions and APIs to fetch live data or take real actions.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Memory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Session state lets it carry context across many turns of a conversation.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Autonomy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It decides which tool or which specialist agent handles the request.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Collaboration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Multiple specialised agents divide the work and hand off between themselves.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Guardrails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Callbacks and policies constrain what the agent is allowed to do.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LO1 · CHOOSING THE RIGHT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LLM vs Agent vs Multi-Agent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Dimension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2623170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236713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Plain LLM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65372" y="1783080"/>
            <a:ext cx="2623170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93388" y="1783080"/>
            <a:ext cx="236713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Single Agent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88542" y="1783080"/>
            <a:ext cx="2623170" cy="47548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6558" y="1783080"/>
            <a:ext cx="236713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Multi-Agent System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258568"/>
            <a:ext cx="2764962" cy="579729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2258568"/>
            <a:ext cx="2508930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What it does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42202" y="2258568"/>
            <a:ext cx="2623170" cy="579729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70218" y="2258568"/>
            <a:ext cx="2367138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Generates text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65372" y="2258568"/>
            <a:ext cx="2623170" cy="579729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93388" y="2258568"/>
            <a:ext cx="2367138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Completes a task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88542" y="2258568"/>
            <a:ext cx="2623170" cy="579729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16558" y="2258568"/>
            <a:ext cx="2367138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Divides work across specialists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2838297"/>
            <a:ext cx="2764962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" y="2838297"/>
            <a:ext cx="2508930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Memory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42202" y="2838297"/>
            <a:ext cx="2623170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70218" y="2838297"/>
            <a:ext cx="2367138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None — stateless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65372" y="2838297"/>
            <a:ext cx="2623170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93388" y="2838297"/>
            <a:ext cx="2367138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Session state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88542" y="2838297"/>
            <a:ext cx="2623170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16558" y="2838297"/>
            <a:ext cx="2367138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Shared session + per-agent state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418026"/>
            <a:ext cx="2764962" cy="579729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418026"/>
            <a:ext cx="2508930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Tools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3418026"/>
            <a:ext cx="2623170" cy="579729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3418026"/>
            <a:ext cx="2367138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None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65372" y="3418026"/>
            <a:ext cx="2623170" cy="579729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93388" y="3418026"/>
            <a:ext cx="2367138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Its own tool set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88542" y="3418026"/>
            <a:ext cx="2623170" cy="579729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16558" y="3418026"/>
            <a:ext cx="2367138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Each agent has its own tools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3997755"/>
            <a:ext cx="2764962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5256" y="3997755"/>
            <a:ext cx="2508930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Best for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542202" y="3997755"/>
            <a:ext cx="2623170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70218" y="3997755"/>
            <a:ext cx="2367138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Drafting, summarising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65372" y="3997755"/>
            <a:ext cx="2623170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93388" y="3997755"/>
            <a:ext cx="2367138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One well-defined job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788542" y="3997755"/>
            <a:ext cx="2623170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16558" y="3997755"/>
            <a:ext cx="2367138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Broad domains, varied requests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7240" y="4577484"/>
            <a:ext cx="2764962" cy="579729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05256" y="4577484"/>
            <a:ext cx="2508930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Main risk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542202" y="4577484"/>
            <a:ext cx="2623170" cy="579729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70218" y="4577484"/>
            <a:ext cx="2367138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Hallucination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65372" y="4577484"/>
            <a:ext cx="2623170" cy="579729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93388" y="4577484"/>
            <a:ext cx="2367138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Overloaded instruction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788542" y="4577484"/>
            <a:ext cx="2623170" cy="579729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916558" y="4577484"/>
            <a:ext cx="2367138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Wrong routing / handoff loops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77240" y="5358381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7240" y="5358381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51560" y="5468109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Add agents only when one instruction can no longer describe the job clearly — complexity you don't need is complexity you must still debug.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THE PATTERN BEHIND EVERY ADK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Agentic Loop — Reason, Act, Observe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1819656" cy="1005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03604" y="2459736"/>
            <a:ext cx="566928" cy="56692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3604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1563624" cy="6126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Perceive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Read the user request and session state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651760" y="3223260"/>
            <a:ext cx="274320" cy="0"/>
          </a:xfrm>
          <a:prstGeom prst="line">
            <a:avLst/>
          </a:prstGeom>
          <a:ln w="25400">
            <a:solidFill>
              <a:srgbClr val="7C3AE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980944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80944" y="2148840"/>
            <a:ext cx="1819656" cy="1005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7308" y="2459736"/>
            <a:ext cx="566928" cy="56692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7308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3118104"/>
            <a:ext cx="1563624" cy="6126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Reason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72384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Plan which step or tool comes next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855464" y="3223260"/>
            <a:ext cx="274320" cy="0"/>
          </a:xfrm>
          <a:prstGeom prst="line">
            <a:avLst/>
          </a:prstGeom>
          <a:ln w="25400">
            <a:solidFill>
              <a:srgbClr val="7C3AE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184648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84648" y="2148840"/>
            <a:ext cx="1819656" cy="1005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811012" y="2459736"/>
            <a:ext cx="566928" cy="56692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1101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12664" y="3118104"/>
            <a:ext cx="1563624" cy="6126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76088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Call a tool, or hand off to a sub-agent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59168" y="3223260"/>
            <a:ext cx="274320" cy="0"/>
          </a:xfrm>
          <a:prstGeom prst="line">
            <a:avLst/>
          </a:prstGeom>
          <a:ln w="25400">
            <a:solidFill>
              <a:srgbClr val="7C3AE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388352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88352" y="2148840"/>
            <a:ext cx="1819656" cy="1005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014716" y="2459736"/>
            <a:ext cx="566928" cy="56692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14716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16368" y="3118104"/>
            <a:ext cx="1563624" cy="6126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Observe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79792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Read the tool result back into context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262872" y="3223260"/>
            <a:ext cx="274320" cy="0"/>
          </a:xfrm>
          <a:prstGeom prst="line">
            <a:avLst/>
          </a:prstGeom>
          <a:ln w="25400">
            <a:solidFill>
              <a:srgbClr val="7C3AE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9592056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592056" y="2148840"/>
            <a:ext cx="1819656" cy="1005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218420" y="2459736"/>
            <a:ext cx="566928" cy="56692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218420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20072" y="3118104"/>
            <a:ext cx="1563624" cy="6126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Respond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83496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Answer, or loop again if not done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WHY IT MATTERS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The loop is what separates an agent from a chatbot: it can take several actions before answering, and it decides how many.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LO3 · 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Reading an ADK Agent Definition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Every agent in this course is built from these same fields — learn to read them once.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C586C0"/>
                </a:solidFill>
                <a:latin typeface="Consolas"/>
              </a:rPr>
              <a:t>from google.adk.agents import Agent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9CDCFE"/>
                </a:solidFill>
                <a:latin typeface="Consolas"/>
              </a:rPr>
              <a:t/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agent = Agent(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    model='gemini-3.8-flash',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    name='banking_assistant',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    description='Handles retail banking queries',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    instruction=(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9CDCFE"/>
                </a:solidFill>
                <a:latin typeface="Consolas"/>
              </a:rPr>
              <a:t>        'You are a bank assistant. '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9CDCFE"/>
                </a:solidFill>
                <a:latin typeface="Consolas"/>
              </a:rPr>
              <a:t>        'Never reveal a PIN or OTP.'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9CDCFE"/>
                </a:solidFill>
                <a:latin typeface="Consolas"/>
              </a:rPr>
              <a:t>    ),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    tools=[get_balance],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9CDCFE"/>
                </a:solidFill>
                <a:latin typeface="Consolas"/>
              </a:rPr>
              <a:t>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Which LLM runs the agent. Flash is fast and cheap; Pro reasons harder.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name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The identifier used in traces and in agent-to-agent transfer.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description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Read by a PARENT agent to decide whether to hand off here.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instruction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The system prompt — role, rules and refusals. Most behaviour lives here.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LO3 · DESIGN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Which Agent Pattern Should You Use?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777240" y="2514600"/>
            <a:ext cx="4206240" cy="2468880"/>
          </a:xfrm>
          <a:prstGeom prst="diamond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Can one clear
instruction describe
the whole job?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1965960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77840" y="1965960"/>
            <a:ext cx="100584" cy="1371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211226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YES — use a single 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Give it the tools it needs. Simpler to build, cheaper to run and far easier to debug. Most business tasks stop here.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983480" y="2651760"/>
            <a:ext cx="594360" cy="109728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577840" y="3977639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77840" y="3977639"/>
            <a:ext cx="100584" cy="1371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4123943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NO — use sub-agents / workflow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4526279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Split by specialism. Use sub-agents for routing by intent, or a SequentialAgent when the order of steps is fixed.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983480" y="3749040"/>
            <a:ext cx="594360" cy="914399"/>
          </a:xfrm>
          <a:prstGeom prst="line">
            <a:avLst/>
          </a:prstGeom>
          <a:ln w="25400">
            <a:solidFill>
              <a:srgbClr val="F59E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77240" y="562356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742432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common mistake is starting multi-agent. Start single, and split only when the instruction starts listing unrelated responsibilities.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LESSON PLAN · TIME ALLOCATION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Where Course Time Goes — Topic Weighting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783080"/>
          <a:ext cx="10634472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230368"/>
            <a:ext cx="10634472" cy="10058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5230368"/>
            <a:ext cx="100584" cy="10058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340096"/>
            <a:ext cx="10149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WHAT THE DATA SHOWS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632704"/>
            <a:ext cx="10149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Topic 2 carries the largest weighting because multi-agent orchestration is where most of the assessable practical skill sits — plan your revision accordingly.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LO2 · ENGINEERING TRADE-OFF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Cost and Latency by Model Tier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783080"/>
          <a:ext cx="10634472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230368"/>
            <a:ext cx="10634472" cy="10058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5230368"/>
            <a:ext cx="100584" cy="10058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340096"/>
            <a:ext cx="10149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WHAT THE DATA SHOWS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632704"/>
            <a:ext cx="10149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Moving from Flash to Ultra costs roughly 20x more and runs about 6x slower. Reach for the larger model only where the reasoning genuinely requires it — indicative figures for teaching the trade-off, not a price list.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LO2 · ASSESSING FEASIBILITY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Gemini Model Selection — Trade-offs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Model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2623170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236713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Speed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65372" y="1783080"/>
            <a:ext cx="2623170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93388" y="1783080"/>
            <a:ext cx="236713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88542" y="1783080"/>
            <a:ext cx="2623170" cy="47548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6558" y="1783080"/>
            <a:ext cx="236713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Use it when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Gemini Flash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42202" y="2258568"/>
            <a:ext cx="2623170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70218" y="2258568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Fastest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65372" y="2258568"/>
            <a:ext cx="2623170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93388" y="2258568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Lowest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88542" y="2258568"/>
            <a:ext cx="2623170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16558" y="2258568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High-volume agents, tool routing, most labs in this course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Gemini Pro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42202" y="2971800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70218" y="2971800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Moderate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65372" y="2971800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93388" y="2971800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Medium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88542" y="2971800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16558" y="2971800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Complex reasoning, long documents, quality-critical answers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Gemini Ultra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3685032"/>
            <a:ext cx="2623170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3685032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Slowest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65372" y="3685032"/>
            <a:ext cx="2623170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93388" y="3685032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Highest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88542" y="3685032"/>
            <a:ext cx="2623170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16558" y="3685032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The hardest reasoning tasks where quality outweighs cost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Gemini Nano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542202" y="4398264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70218" y="4398264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On-device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65372" y="4398264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93388" y="4398264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None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788542" y="4398264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16558" y="4398264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Offline or mobile scenarios with privacy constraints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Model choice is an engineering trade-off, not a preference — justify it on latency, cost per call and required reasoning depth.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ARCHITECTURE CHOICE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Single Agent vs Multi-Agent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Simple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Scalable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Single agent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One instruction, one set of tools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Simple to build and to debug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Instruction grows unwieldy as scope widens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Best for a narrow, well-defined job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Multi-agent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Each specialist has its own instruction and tools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Scales to broad problem domains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Routing and handoff must be designed carefully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Best for varied requests across several sub-domains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THE MODEL BEHIND ADK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is Gemini?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Built by Google DeepMind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Gemini is Google's flagship model family, built from the ground up for multimodality.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Natively multimodal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It reasons across text, images, video, audio and code in a single model.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Long context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Very large context windows allow whole documents, codebases and videos in one prompt.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Tool-ready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Native function calling makes Gemini a natural fit for agentic applications.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CHOOSING A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Gemini Model Family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Pro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The mid-tier, balanced option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Strong reasoning, broad multimodal skill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Optimised for performance, cost and latency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The default choice for most agents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Flash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Lightweight and fast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Optimised for speed and efficiency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Low cost per call at high volume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Used in most labs in this course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Ultra &amp; Nano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Ultra: the most capable, for highly complex tasks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Nano: the most efficient, runs on-device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Nano targets mobile and offline scenarios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Choose by task complexity and where it runs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LO2 · GEMINI GAI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Model Parameters You Can Tune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Temperature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Controls randomness. Low values give focused, repeatable answers; high values give creative, varied ones.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Top-K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Restricts sampling to the K most probable next tokens. Top-K of 1 always picks the single most likely token.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Top-P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Samples from the smallest set of tokens whose probabilities sum to P — a dynamic alternative to Top-K.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Max output tokens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Caps the length of the response, which directly caps cost.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Stop sequences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Strings that end generation immediately when produced — useful for structured formats.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Safety settings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Thresholds that filter harmful content across several harm categories.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PREVIEW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is the Agent Development Kit (ADK)?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Open-source framework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Google's Python framework for building, evaluating and deploying AI agents.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Model-agnostic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Runs on Gemini natively, and on OpenAI, Anthropic or local models through LiteLlm.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Batteries included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Sessions, tools, callbacks, multi-agent orchestration and evaluation are all built in.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Developer UI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adk web gives you a local browser IDE that shows every event, tool call and trace.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THE SIX FIELDS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Anatomy of an ADK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model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Which LLM powers the agent — for example gemini-3.8-flash.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name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unique identifier used in traces and in agent-to-agent transfers.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description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What this agent is for. A parent agent reads this to decide whether to hand off to it.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instruction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The system prompt: the agent's role, rules, tone and boundaries.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tools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Python functions the agent may call to fetch data or take action.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sub_agents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Specialist agents this agent may transfer control to.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HOW A TURN EXECUTES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ADK Agent 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User message enters the Runner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Session history is loaded as context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The model reasons and may emit a tool call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The tool runs and its result returns to the model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The final response is streamed back and stored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Overview of Agentic AI in Gemini ADK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LLM &amp; agentic AI foundations · Gemini model family · ADK architecture · first agent · tools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WEIGHTING 25%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Concepts — Overview of Agentic AI in Gemini ADK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 Large Language Model (LLM) is trained on very large text corpora and generates language autoregressively, one token at a time.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Agentic AI adds reasoning, memory, tool use and autonomy on top of an LLM, so the model can act, not just answer.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Gemini is Google DeepMind's natively multimodal model family — Pro, Flash and Nano — reasoning across text, image, video, audio and code.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This course runs on gemini-3.8-flash, the Flash tier engineered for autonomous agents and long-horizon, multi-step reasoning — the workload a multi-agent system creates.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Model IDs retire. Pin a specific version for reproducible training runs, or use a floating alias such as gemini-flash-latest in code you do not want to revisit; either way the model ID belongs in one MODEL constant, never scattered through the file.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Authentication is either an AI Studio API key in GOOGLE_API_KEY, or Vertex AI via GOOGLE_CLOUD_PROJECT and GOOGLE_CLOUD_LOCATION — the agent code is identical in both cases.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WEIGHTING 25%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Key Concepts — Overview of Agentic AI in Gemini ADK (continued)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The Agent Development Kit (ADK) is Google's open-source Python framework for building, evaluating and deploying agents.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An ADK Agent is defined by four things: a model, a name, a description and an instruction.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Tools are ordinary Python functions the agent may call; the docstring and type hints tell the model when and how to call them.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adk web launches a local browser IDE for chatting with an agent and inspecting every event, tool call and trace.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LiteLlm lets an ADK agent run on non-Gemini models (OpenAI, Anthropic, Ollama) without changing agent code.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YOU'LL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Hands-On Labs — Overview of Agentic AI in Gemini ADK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Labs 1–2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Set Up the Gemini ADK Environment and Get an API Key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Build Your First ADK Agent — A Retail Banking Assistant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Labs 3–4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Give an Agent Tools — Live Weather and Web Search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Swap the Model — Running an ADK Agent on a Non-Gemini LLM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01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Set Up the Gemini ADK Environment and Get an API Key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LAB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LO1 / LO2 — establish a working Gemini ADK development environment.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Install the Agent Development Kit toolchain with uv, obtain a free Google AI Studio API key, store it safely in a .env file, and verify the Gemini model the whole course runs on. Every later lab depends on this setup working.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 working Python 3.13 project with google-adk installed, a validated GOOGLE_API_KEY and a confirmed gemini-3.8-flash connection.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Google AI Studio, uv, Python 3.13, google-adk, python-dotenv, gemini-3.8-flash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uv run python lab01/verify_setup.py reports PASS on every check, including a live gemini-3.8-flash response, and git check-ignore confirms .env is excluded from commits.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 · PROCESS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Lab 1 Runs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03604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3604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1563624" cy="6126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Clone the course lab repository from GitHub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github.com/tertiarycourses/TGS-2024042961-Develop-Multi…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651760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980944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80944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7308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7308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3118104"/>
            <a:ext cx="1563624" cy="6126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Change into the labs folder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72384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cd …/labs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855464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184648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84648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811012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1101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12664" y="3118104"/>
            <a:ext cx="1563624" cy="6126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Install all dependencies with uv (creates the .venv automatically)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76088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uv sync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59168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388352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88352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014716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14716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16368" y="3118104"/>
            <a:ext cx="1563624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161B26"/>
                </a:solidFill>
                <a:latin typeface="Arial"/>
              </a:rPr>
              <a:t>Open Google AI Studio and sign in with your Google account, then click Get API key → Create API key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262872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9592056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592056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218420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218420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20072" y="3118104"/>
            <a:ext cx="1563624" cy="6126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Create a .env file in the labs folder and paste your key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83496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cat &gt; .env &lt;&lt;'EOF'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THE POINT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LO1 / LO2 — establish a working Gemini ADK development environment.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 ·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Set Up the Gemini ADK Environment and Get an API Key — Part 1/3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55648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82296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084832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8483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828800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Clone the course lab repository from GitHub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81328" y="2157984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2157984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git clone https://github.com/tertiarycourses/TGS-2024042961-Develop-Multi-AI-Agent-Applicatio...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871216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2871216"/>
            <a:ext cx="82296" cy="10241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9264" y="320040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32004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2944368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Change into the labs folder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481328" y="3273552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27632" y="3273552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cd TGS-2024042961-Develop-Multi-AI-Agent-Applications-with-Gemini-Agent-ADK/labs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3986784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3986784"/>
            <a:ext cx="82296" cy="10241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9264" y="4315968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9264" y="4315968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1328" y="4059936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Install all dependencies with uv (creates the .venv automatically)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481328" y="4389120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27632" y="4389120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uv sync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5102352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77240" y="5102352"/>
            <a:ext cx="82296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69264" y="5431536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9264" y="5431536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81328" y="5102352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Open Google AI Studio and sign in with your Google account, then click Get API key → Create API key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 ·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Set Up the Gemini ADK Environment and Get an API Key — Part 2/3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55648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82296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084832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8483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828800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Create a .env file in the labs folder and paste your key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81328" y="2157984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2157984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cat &gt; .env &lt;&lt;'EOF'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871216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2871216"/>
            <a:ext cx="82296" cy="10241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9264" y="320040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32004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2944368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Confirm the ADK command-line tool is on the path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481328" y="3273552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27632" y="3273552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uv run adk --help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3986784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3986784"/>
            <a:ext cx="82296" cy="10241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9264" y="4315968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9264" y="4315968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1328" y="4059936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Run the setup verifier — it checks Python, google-adk, the key and a live model call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481328" y="4389120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27632" y="4389120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uv run python lab01/verify_setup.py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5102352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77240" y="5102352"/>
            <a:ext cx="82296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69264" y="5431536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9264" y="5431536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81328" y="5175504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Note the MODEL constant every lab uses, and why the ID is declared once per file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481328" y="5504688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627632" y="5504688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gemini-3.8-flash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 ·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Set Up the Gemini ADK Environment and Get an API Key — Part 3/3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55648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82296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084832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8483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828800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Confirm .env is git-ignored so your API key is never committed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81328" y="2157984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2157984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git check-ignore -v .env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Set Up the Gemini ADK Environment and Get an API Key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96596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0584" cy="1965960"/>
          </a:xfrm>
          <a:prstGeom prst="rect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27A3E"/>
                </a:solidFill>
                <a:latin typeface="Arial"/>
              </a:rPr>
              <a:t>✅  Expected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395728"/>
            <a:ext cx="10058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uv run python lab01/verify_setup.py reports PASS on every check, including a live gemini-3.8-flash response, and git check-ignore confirms .env is excluded from commits.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50208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IF IT DOESN'T 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Nothing happens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Check the .env file is in the labs folder and the key has no quotes or spaces.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8264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8264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Auth or 401 error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Re-copy the API key from AI Studio; confirm GOOGLE_GENAI_USE_VERTEXAI=0.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9288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9288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ModuleNotFoundError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Run uv sync again, and prefix commands with uv run so the venv is used.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01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Build Your First ADK Agent — A Retail Banking Assistant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LAB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LO1 / LO3 — define an agent from a model, name, description and instruction.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Create a single-agent banking customer-service assistant. You learn the four fields that define every ADK agent and see how the instruction alone shapes tone, scope and refusals.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lab02 — a Gemini-powered banking assistant that answers general banking questions and refuses to handle PINs, OTPs or full account numbers.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google-adk, Gemini 3.8 Flash, adk run, adk web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The agent answers general banking questions helpfully but declines to disclose or request a PIN, OTP or full account number, and the Events tab shows one LLM call per turn.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 · PROCESS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Lab 2 Runs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03604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3604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1563624" cy="6126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Inspect the agent definition and note the four required fields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cat lab02/agent.py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651760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980944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80944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7308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7308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3118104"/>
            <a:ext cx="1563624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Identify model, name, description and instruction in the Agent(...) call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55464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84648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84648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811012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1101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12664" y="3118104"/>
            <a:ext cx="1563624" cy="6126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Run the agent in the terminal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76088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adk run lab02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059168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388352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88352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014716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14716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16368" y="3118104"/>
            <a:ext cx="1563624" cy="6126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Ask an in-scope question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79792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How do I reset my internet banking password?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262872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9592056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592056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218420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218420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20072" y="3118104"/>
            <a:ext cx="1563624" cy="6126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Ask an out-of-scope question and observe the guarded refusal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83496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What is my account PIN?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THE POINT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LO1 / LO3 — define an agent from a model, name, description and instruction.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 ·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Build Your First ADK Agent — A Retail Banking Assistant — Part 1/2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55648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82296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084832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8483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828800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Inspect the agent definition and note the four required fields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81328" y="2157984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2157984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cat lab02/agent.py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871216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2871216"/>
            <a:ext cx="82296" cy="10241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9264" y="320040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32004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2871216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Identify model, name, description and instruction in the Agent(...) call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986784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3986784"/>
            <a:ext cx="82296" cy="10241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69264" y="4315968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" y="4315968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81328" y="4059936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Run the agent in the terminal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481328" y="4389120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27632" y="4389120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uv run adk run lab02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5102352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5102352"/>
            <a:ext cx="82296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69264" y="5431536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9264" y="5431536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81328" y="5175504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Ask an in-scope question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481328" y="5504688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27632" y="5504688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How do I reset my internet banking password?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 ·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Build Your First ADK Agent — A Retail Banking Assistant — Part 2/2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55648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82296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084832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8483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828800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Ask an out-of-scope question and observe the guarded refusal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81328" y="2157984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2157984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What is my account PIN?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871216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2871216"/>
            <a:ext cx="82296" cy="10241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9264" y="320040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32004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2944368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Launch the browser IDE and re-run the same prompts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481328" y="3273552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27632" y="3273552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uv run adk web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3986784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3986784"/>
            <a:ext cx="82296" cy="10241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9264" y="4315968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9264" y="4315968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1328" y="3986784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Open http://localhost:8000, select lab02, and inspect the Events tab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5102352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5102352"/>
            <a:ext cx="82296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69264" y="5431536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9264" y="5431536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81328" y="5102352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Edit the instruction to make the assistant reply only in formal English, then re-run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Build Your First ADK Agent — A Retail Banking Assistant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96596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0584" cy="1965960"/>
          </a:xfrm>
          <a:prstGeom prst="rect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27A3E"/>
                </a:solidFill>
                <a:latin typeface="Arial"/>
              </a:rPr>
              <a:t>✅  Expected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395728"/>
            <a:ext cx="10058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The agent answers general banking questions helpfully but declines to disclose or request a PIN, OTP or full account number, and the Events tab shows one LLM call per turn.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50208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IF IT DOESN'T 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Nothing happens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Check the .env file is in the labs folder and the key has no quotes or spaces.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8264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8264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Auth or 401 error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Re-copy the API key from AI Studio; confirm GOOGLE_GENAI_USE_VERTEXAI=0.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9288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9288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ModuleNotFoundError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Run uv sync again, and prefix commands with uv run so the venv is used.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01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Give an Agent Tools — Live Weather and Web Search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LAB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LO1 / LO3 — extend an agent with custom function tools and evaluate tool selection.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Add two Python function tools to an agent: a live OpenWeather lookup and a Tavily web search. You see how the docstring and type hints become the tool contract the model reads.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lab03 — an agent that decides for itself whether a question needs the weather tool, the search tool, both, or neither.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google-adk, OpenWeather API, Tavily API, Gemini 3.8 Flash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The weather question produces a get_weather function_call with a live temperature; the news question produces a tavily_search call; the arithmetic question produces no tool call at all.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 · PROCESS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Lab 3 Runs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03604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3604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1563624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161B26"/>
                </a:solidFill>
                <a:latin typeface="Arial"/>
              </a:rPr>
              <a:t>Register for a free OpenWeather API key at openweathermap.org and a Tavily key at tavily.com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51760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980944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80944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07308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07308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08960" y="3118104"/>
            <a:ext cx="1563624" cy="6126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Add both keys to labs/.env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72384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OPENWEATHER_API_KEY / TAVILY_API_KEY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55464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84648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84648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811012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1101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12664" y="3118104"/>
            <a:ext cx="1563624" cy="6126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161B26"/>
                </a:solidFill>
                <a:latin typeface="Arial"/>
              </a:rPr>
              <a:t>Read the two tool functions and note the docstring, the typed arguments and the dict return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76088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cat lab03/agent.py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059168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388352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88352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014716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14716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16368" y="3118104"/>
            <a:ext cx="1563624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Observe that tools are attached with tools=[get_weather, tavily_search]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262872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9592056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592056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218420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218420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20072" y="3118104"/>
            <a:ext cx="1563624" cy="6126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Run the agent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83496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adk run lab03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THE POINT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LO1 / LO3 — extend an agent with custom function tools and evaluate tool selection.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 ·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Give an Agent Tools — Live Weather and Web Search — Part 1/3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55648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82296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084832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8483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755648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Register for a free OpenWeather API key at openweathermap.org and a Tavily key at tavily.com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871216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871216"/>
            <a:ext cx="82296" cy="10241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69264" y="320040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9264" y="32004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81328" y="2944368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Add both keys to labs/.env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81328" y="3273552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7632" y="3273552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OPENWEATHER_API_KEY / TAVILY_API_KEY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986784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3986784"/>
            <a:ext cx="82296" cy="10241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69264" y="4315968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" y="4315968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81328" y="4059936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Read the two tool functions and note the docstring, the typed arguments and the dict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481328" y="4389120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27632" y="4389120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cat lab03/agent.py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5102352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5102352"/>
            <a:ext cx="82296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69264" y="5431536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9264" y="5431536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81328" y="5102352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Observe that tools are attached with tools=[get_weather, tavily_search]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 ·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Give an Agent Tools — Live Weather and Web Search — Part 2/3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55648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82296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084832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8483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828800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Run the agent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81328" y="2157984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2157984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uv run adk run lab03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871216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2871216"/>
            <a:ext cx="82296" cy="10241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9264" y="320040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32004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2944368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Trigger the weather tool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481328" y="3273552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27632" y="3273552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What is the weather in Singapore right now?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3986784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3986784"/>
            <a:ext cx="82296" cy="10241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9264" y="4315968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9264" y="4315968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1328" y="4059936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Trigger the search tool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481328" y="4389120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27632" y="4389120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What are the latest announcements about Google Gemini?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5102352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77240" y="5102352"/>
            <a:ext cx="82296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69264" y="5431536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9264" y="5431536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81328" y="5175504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Ask a question needing no tool and confirm none is called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481328" y="5504688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627632" y="5504688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What is 15 multiplied by 12?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 ·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Give an Agent Tools — Live Weather and Web Search — Part 3/3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55648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82296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084832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8483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828800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Open adk web and read the function_call and function_response events for each turn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81328" y="2157984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2157984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uv run adk web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Give an Agent Tools — Live Weather and Web Search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96596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0584" cy="1965960"/>
          </a:xfrm>
          <a:prstGeom prst="rect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27A3E"/>
                </a:solidFill>
                <a:latin typeface="Arial"/>
              </a:rPr>
              <a:t>✅  Expected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395728"/>
            <a:ext cx="10058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The weather question produces a get_weather function_call with a live temperature; the news question produces a tavily_search call; the arithmetic question produces no tool call at all.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50208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IF IT DOESN'T 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Nothing happens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Check the .env file is in the labs folder and the key has no quotes or spaces.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8264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8264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Auth or 401 error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Re-copy the API key from AI Studio; confirm GOOGLE_GENAI_USE_VERTEXAI=0.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9288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9288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ModuleNotFoundError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Run uv sync again, and prefix commands with uv run so the venv is used.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01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Swap the Model — Running an ADK Agent on a Non-Gemini LLM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LAB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LO2 / LO4 — compare models and assess the trade-offs for an engineering process.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Use the LiteLlm wrapper to point the same agent at an OpenAI model, then compare it with Gemini on the same prompts to judge quality, latency and cost.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lab04 — one agent definition that runs on either Gemini or an OpenAI model by changing a single line.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google-adk, LiteLlm, Gemini 3.8 Flash, OpenAI GPT-4.1-mini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The same agent runs unchanged on both providers, and you can state which model you would choose for this workload and justify it on quality, latency and cost.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4 · PROCESS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Lab 4 Runs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03604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3604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1563624" cy="6126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Inspect how LiteLlm wraps a non-Google 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cat lab04/agent.py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651760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980944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80944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7308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7308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3118104"/>
            <a:ext cx="1563624" cy="6126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Add your OpenAI key to labs/.env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72384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echo 'OPENAI_API_KEY=your-openai-key' &gt;&gt; .env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855464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184648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84648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811012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1101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12664" y="3118104"/>
            <a:ext cx="1563624" cy="6126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Run the agent on the OpenAI model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76088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adk run lab04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59168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388352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88352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014716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14716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16368" y="3118104"/>
            <a:ext cx="1563624" cy="6126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Ask a reasoning question and note the answer quality and response time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79792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Explain in three sentences why an agent needs tools.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262872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9592056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592056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218420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218420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20072" y="3118104"/>
            <a:ext cx="1563624" cy="6126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Edit lab04/agent.py and replace the model with a Gemini model string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83496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model='gemini-3.8-flash'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THE POINT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LO2 / LO4 — compare models and assess the trade-offs for an engineering process.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4 ·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61B26"/>
                </a:solidFill>
                <a:latin typeface="Arial"/>
              </a:rPr>
              <a:t>Swap the Model — Running an ADK Agent on a Non-Gemini LLM — Part 1/2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55648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82296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084832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8483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828800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Inspect how LiteLlm wraps a non-Google model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81328" y="2157984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2157984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cat lab04/agent.py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871216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2871216"/>
            <a:ext cx="82296" cy="10241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9264" y="320040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32004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2944368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Add your OpenAI key to labs/.env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481328" y="3273552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27632" y="3273552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echo 'OPENAI_API_KEY=your-openai-key' &gt;&gt; .env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3986784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3986784"/>
            <a:ext cx="82296" cy="10241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9264" y="4315968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9264" y="4315968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1328" y="4059936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Run the agent on the OpenAI model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481328" y="4389120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27632" y="4389120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uv run adk run lab04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5102352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77240" y="5102352"/>
            <a:ext cx="82296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69264" y="5431536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9264" y="5431536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81328" y="5175504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Ask a reasoning question and note the answer quality and response time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481328" y="5504688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627632" y="5504688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Explain in three sentences why an agent needs tools.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4 ·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61B26"/>
                </a:solidFill>
                <a:latin typeface="Arial"/>
              </a:rPr>
              <a:t>Swap the Model — Running an ADK Agent on a Non-Gemini LLM — Part 2/2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55648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82296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084832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8483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828800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Edit lab04/agent.py and replace the model with a Gemini model string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81328" y="2157984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2157984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model='gemini-3.8-flash'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871216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2871216"/>
            <a:ext cx="82296" cy="10241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9264" y="320040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32004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2944368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Re-run the identical prompt on Gemini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481328" y="3273552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27632" y="3273552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uv run adk run lab04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3986784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3986784"/>
            <a:ext cx="82296" cy="10241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9264" y="4315968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9264" y="4315968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1328" y="3986784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Record quality, latency and cost for both in a comparison table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4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Swap the Model — Running an ADK Agent on a Non-Gemini LLM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96596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0584" cy="1965960"/>
          </a:xfrm>
          <a:prstGeom prst="rect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27A3E"/>
                </a:solidFill>
                <a:latin typeface="Arial"/>
              </a:rPr>
              <a:t>✅  Expected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395728"/>
            <a:ext cx="10058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The same agent runs unchanged on both providers, and you can state which model you would choose for this workload and justify it on quality, latency and cost.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50208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IF IT DOESN'T 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Nothing happens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Check the .env file is in the labs folder and the key has no quotes or spaces.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8264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8264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Auth or 401 error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Re-copy the API key from AI Studio; confirm GOOGLE_GENAI_USE_VERTEXAI=0.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9288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9288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ModuleNotFoundError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Run uv sync again, and prefix commands with uv run so the venv is used.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— Overview of Agentic AI in Gemini ADK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You can now: LO1 / LO2 — establish a working Gemini ADK development environment.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You can now: LO1 / LO3 — define an agent from a model, name, description and instruction.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You can now: LO1 / LO3 — extend an agent with custom function tools and evaluate tool selection.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You can now: LO2 / LO4 — compare models and assess the trade-offs for an engineering process.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Build A Multi Agent App with Gemini ADK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Sessions &amp; state · handoff · coordinator · Sequential · Parallel · Loop · Agent-as-a-Tool · guardrails · MCP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68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WEIGHTING 35%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Key Concepts — Build A Multi Agent App with Gemini ADK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LLMs are stateless — a Session plus a SessionService is what gives an ADK agent memory across turns.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The Runner is the execution engine: it takes a user message, drives the agent loop and streams back Events.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Multi-agent handoff — a root agent with sub_agents TRANSFERS control to whichever specialist matches the request, and that specialist then answers the user directly.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The coordinator/dispatcher pattern puts a triage agent above specialised sub-agents; ADK builds the delegation tool from each sub-agent's description, so routing quality depends on how sharply those descriptions are written.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SequentialAgent guarantees stage order in code — use it whenever stage N genuinely needs stage N-1's output, such as costing a travel itinerary that must exist first.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output_key writes an agent's result into session state, and the next agent reads it back through a {placeholder} in its instruction — this is how workflow agents pass data along.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WEIGHTING 35%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Key Concepts — Build A Multi Agent App with Gemini ADK (continued)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ParallelAgent fans independent branches out concurrently, cutting wall-clock latency to the slowest branch rather than the sum; a fan-in agent then synthesises the branches and reconciles any conflicts.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LoopAgent iterates a cycle such as writer→critic, and needs TWO stops: max_iterations as a hard ceiling, and an escape hatch where a tool sets tool_context.actions.escalate = True to exit early once the work is good enough.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Agent-as-a-Tool (AgentTool) CALLS a specialist that returns its result to the parent, which keeps control — the opposite of sub_agents handoff, and the right choice when the parent still needs to compose the final answer.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Callbacks such as before_model_callback implement guardrails — inspect, block or rewrite a request before it reaches the model.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output_schema with a Pydantic model forces the agent to emit validated, machine-readable JSON instead of free text.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The Model Context Protocol (MCP) is an open standard that lets an agent consume tools hosted by an external server over StreamableHTTP or SSE.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YOU'LL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Hands-On Labs — Build A Multi Agent App with Gemini ADK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Labs 5–7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Give an Agent Memory — Sessions, State and the Runner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Inspect the Agent Loop — Events, Tool Calls and Final Responses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Multi-Agent Handoff — A Blog Content Production Team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Labs 8–10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Coordinator / Dispatcher — A Customer Support Desk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Workflow Agents — Sequential, Parallel, Loop and Agent-as-a-Tool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Add a Guardrail — Blocking Unsafe Requests with a Callback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Labs 11–12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Structured Output — Forcing Valid JSON with Pydantic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Connect External Tools with MCP — StreamableHTTP and SSE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02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Give an Agent Memory — Sessions, State and the Runner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LAB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LO3 — implement session management so an agent remembers earlier turns.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Drive an agent programmatically with a Runner and an InMemorySessionService, so the conversation persists across turns instead of restarting on every message.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lab05 — a multi-turn agent that answers follow-up questions using earlier context.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google-adk, Runner, InMemorySessionService, google.genai types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The follow-up 'And what about Osaka?' is understood as a weather question without repeating the word weather — and stops working when the session is removed.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5 · PROCESS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Lab 5 Runs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03604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3604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1563624" cy="6126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Read how session service, session and Runner are wired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cat lab05/agent.py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651760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980944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80944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7308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7308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3118104"/>
            <a:ext cx="1563624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Note the APP_NAME, USER_ID and SESSION_ID that identify one conversation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55464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84648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84648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811012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1101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12664" y="3118104"/>
            <a:ext cx="1563624" cy="6126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Run the session script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76088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lab05/agent.py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059168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388352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88352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014716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14716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16368" y="3118104"/>
            <a:ext cx="1563624" cy="6126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Ask an initial question that establishes context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79792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What is the weather in Tokyo?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262872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9592056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592056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218420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218420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20072" y="3118104"/>
            <a:ext cx="1563624" cy="6126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Ask a follow-up that only works if the agent remembers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83496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And what about Osaka?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THE POINT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LO3 — implement session management so an agent remembers earlier turns.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5 ·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Give an Agent Memory — Sessions, State and the Runner — Part 1/2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55648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82296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084832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8483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828800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Read how session service, session and Runner are wired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81328" y="2157984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2157984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cat lab05/agent.py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871216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2871216"/>
            <a:ext cx="82296" cy="10241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9264" y="320040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32004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2871216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Note the APP_NAME, USER_ID and SESSION_ID that identify one conversation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986784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3986784"/>
            <a:ext cx="82296" cy="10241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69264" y="4315968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" y="4315968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81328" y="4059936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Run the session script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481328" y="4389120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27632" y="4389120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uv run python lab05/agent.py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5102352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5102352"/>
            <a:ext cx="82296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69264" y="5431536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9264" y="5431536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81328" y="5175504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Ask an initial question that establishes context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481328" y="5504688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27632" y="5504688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What is the weather in Tokyo?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5 ·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Give an Agent Memory — Sessions, State and the Runner — Part 2/2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55648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82296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084832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8483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828800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Ask a follow-up that only works if the agent remembers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81328" y="2157984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2157984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And what about Osaka?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871216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2871216"/>
            <a:ext cx="82296" cy="10241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9264" y="320040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32004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2871216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Comment out the session creation and re-run to observe the failure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986784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3986784"/>
            <a:ext cx="82296" cy="10241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69264" y="4315968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" y="4315968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81328" y="3986784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Restore the session code and confirm continuity is back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5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Give an Agent Memory — Sessions, State and the Runner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96596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0584" cy="1965960"/>
          </a:xfrm>
          <a:prstGeom prst="rect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27A3E"/>
                </a:solidFill>
                <a:latin typeface="Arial"/>
              </a:rPr>
              <a:t>✅  Expected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395728"/>
            <a:ext cx="10058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The follow-up 'And what about Osaka?' is understood as a weather question without repeating the word weather — and stops working when the session is removed.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50208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IF IT DOESN'T 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Nothing happens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Check the .env file is in the labs folder and the key has no quotes or spaces.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8264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8264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Auth or 401 error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Re-copy the API key from AI Studio; confirm GOOGLE_GENAI_USE_VERTEXAI=0.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9288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9288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ModuleNotFoundError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Run uv sync again, and prefix commands with uv run so the venv is used.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02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Inspect the Agent Loop — Events, Tool Calls and Final Responses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LAB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LO3 / LO4 — analyse the agent execution loop and evaluate its behaviour.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Stream the Event objects the Runner emits and learn to read an agent trace: which event carries the tool call, which carries the tool result, and which is the final response.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lab06 — an instrumented agent that prints every event in its reasoning loop.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google-adk, Runner, Events API, InMemorySessionService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You can point to the function_call, the function_response and the final response in the trace, and state the number of LLM round-trips the turn consumed.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6 · PROCESS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Lab 6 Runs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03604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3604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1563624" cy="6126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Read the event-handling loop and find is_final_response()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cat lab06/agent.py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651760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980944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80944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7308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7308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3118104"/>
            <a:ext cx="1563624" cy="6126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Run the interaction script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72384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lab06/agent.py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855464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184648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84648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811012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1101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12664" y="3118104"/>
            <a:ext cx="1563624" cy="6126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Send a prompt that requires a tool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76088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Find the weather in Singapore and summarise recent AI…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59168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388352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88352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014716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14716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16368" y="3118104"/>
            <a:ext cx="1563624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In the printed trace, identify the function_call event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262872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9592056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592056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218420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218420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20072" y="3118104"/>
            <a:ext cx="1563624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Identify the function_response event carrying the tool's return value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THE POINT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LO3 / LO4 — analyse the agent execution loop and evaluate its behaviour.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6 ·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61B26"/>
                </a:solidFill>
                <a:latin typeface="Arial"/>
              </a:rPr>
              <a:t>Inspect the Agent Loop — Events, Tool Calls and Final Responses — Part 1/2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55648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82296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084832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8483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828800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Read the event-handling loop and find is_final_response()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81328" y="2157984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2157984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cat lab06/agent.py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871216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2871216"/>
            <a:ext cx="82296" cy="10241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9264" y="320040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32004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2944368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Run the interaction script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481328" y="3273552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27632" y="3273552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uv run python lab06/agent.py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3986784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3986784"/>
            <a:ext cx="82296" cy="10241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9264" y="4315968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9264" y="4315968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1328" y="4059936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Send a prompt that requires a tool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481328" y="4389120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27632" y="4389120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Find the weather in Singapore and summarise recent AI news.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5102352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77240" y="5102352"/>
            <a:ext cx="82296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69264" y="5431536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9264" y="5431536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81328" y="5102352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In the printed trace, identify the function_call event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6 ·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61B26"/>
                </a:solidFill>
                <a:latin typeface="Arial"/>
              </a:rPr>
              <a:t>Inspect the Agent Loop — Events, Tool Calls and Final Responses — Part 2/2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55648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82296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084832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8483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755648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Identify the function_response event carrying the tool's return value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871216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871216"/>
            <a:ext cx="82296" cy="10241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69264" y="320040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9264" y="32004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81328" y="2871216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Identify the final response event and note how many LLM calls one turn actually took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986784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986784"/>
            <a:ext cx="82296" cy="10241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9264" y="4315968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9264" y="4315968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3986784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Explain why a two-tool question produces more events than a one-tool question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6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Inspect the Agent Loop — Events, Tool Calls and Final Responses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96596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0584" cy="1965960"/>
          </a:xfrm>
          <a:prstGeom prst="rect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27A3E"/>
                </a:solidFill>
                <a:latin typeface="Arial"/>
              </a:rPr>
              <a:t>✅  Expected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395728"/>
            <a:ext cx="10058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You can point to the function_call, the function_response and the final response in the trace, and state the number of LLM round-trips the turn consumed.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50208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IF IT DOESN'T 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Nothing happens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Check the .env file is in the labs folder and the key has no quotes or spaces.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8264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8264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Auth or 401 error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Re-copy the API key from AI Studio; confirm GOOGLE_GENAI_USE_VERTEXAI=0.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9288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9288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ModuleNotFoundError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Run uv sync again, and prefix commands with uv run so the venv is used.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02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Multi-Agent Handoff — A Blog Content Production Team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LAB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LO3 — implement agent-to-agent delegation with sub_agents.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Build a realistic editorial team: a managing editor hands off to a researcher, who gathers current facts with web search and then hands off to a writer who drafts the post. Every handoff is driven by the description field — the core ADK delegation pattern.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lab07 — a three-stage content pipeline that turns a topic request into a publish-ready, fact-grounded blog post.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google-adk, sub_agents, google_search, Gemini 3.8 Flash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One topic request produces a research brief followed by a cited blog post, and the Events tab shows two transfer_to_agent calls in order.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7 · PROCESS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Lab 7 Runs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03604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3604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1563624" cy="6126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Read the three agents and the sub_agents chain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cat lab07/agent.py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651760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980944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80944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7308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7308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3118104"/>
            <a:ext cx="1563624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The description field is what drives the parent's handoff decision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55464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84648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84648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811012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1101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12664" y="3118104"/>
            <a:ext cx="1563624" cy="6126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Run the agent in the browser 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76088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adk web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059168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388352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88352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014716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14716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16368" y="3118104"/>
            <a:ext cx="1563624" cy="6126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Select lab07 and commission a post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79792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Write a blog post about AI adoption in Singapore SMEs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262872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9592056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592056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218420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218420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20072" y="3118104"/>
            <a:ext cx="1563624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In the Events tab, find the transfer_to_agent call into researcher_agent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THE POINT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LO3 — implement agent-to-agent delegation with sub_agents.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7 ·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Multi-Agent Handoff — A Blog Content Production Team — Part 1/2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55648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82296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084832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8483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828800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Read the three agents and the sub_agents chain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81328" y="2157984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2157984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cat lab07/agent.py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871216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2871216"/>
            <a:ext cx="82296" cy="10241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9264" y="320040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32004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2871216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The description field is what drives the parent's handoff decision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986784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3986784"/>
            <a:ext cx="82296" cy="10241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69264" y="4315968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" y="4315968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81328" y="4059936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Run the agent in the browser IDE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481328" y="4389120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27632" y="4389120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uv run adk web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5102352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5102352"/>
            <a:ext cx="82296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69264" y="5431536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9264" y="5431536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81328" y="5175504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Select lab07 and commission a post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481328" y="5504688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27632" y="5504688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Write a blog post about AI adoption in Singapore SMEs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7 ·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Multi-Agent Handoff — A Blog Content Production Team — Part 2/2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55648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82296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084832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8483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755648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In the Events tab, find the transfer_to_agent call into researcher_agent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871216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871216"/>
            <a:ext cx="82296" cy="10241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69264" y="320040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9264" y="32004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81328" y="2871216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Confirm the researcher's google_search calls, then the transfer into writer_agent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986784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986784"/>
            <a:ext cx="82296" cy="10241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9264" y="4315968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9264" y="4315968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3986784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Check the finished post cites only facts that appear in the research brief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5102352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5102352"/>
            <a:ext cx="82296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69264" y="5431536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9264" y="5431536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81328" y="5102352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Weaken the writer_agent description to one vague word, re-run and observe the handoff become unreliable, then restore 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7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Multi-Agent Handoff — A Blog Content Production Team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96596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0584" cy="1965960"/>
          </a:xfrm>
          <a:prstGeom prst="rect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27A3E"/>
                </a:solidFill>
                <a:latin typeface="Arial"/>
              </a:rPr>
              <a:t>✅  Expected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395728"/>
            <a:ext cx="10058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One topic request produces a research brief followed by a cited blog post, and the Events tab shows two transfer_to_agent calls in order.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50208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IF IT DOESN'T 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Nothing happens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Check the .env file is in the labs folder and the key has no quotes or spaces.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8264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8264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Auth or 401 error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Re-copy the API key from AI Studio; confirm GOOGLE_GENAI_USE_VERTEXAI=0.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9288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9288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ModuleNotFoundError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Run uv sync again, and prefix commands with uv run so the venv is used.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02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Coordinator / Dispatcher — A Customer Support Desk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LAB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LO3 — design a coordinator agent routing to specialised sub-agents.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Build a production-shaped support desk where a triage agent dispatches each ticket to the billing, technical or returns specialist — each with its own instruction and its own tools against order and refund systems.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lab08 — a triage coordinator with three tool-equipped specialists that routes real support tickets.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google-adk, sub_agents, coordinator/dispatcher pattern, function tools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Each ticket reaches the matching specialist as a transfer_to_agent event, the returns ticket triggers lookup_order and check_refund_eligibility, and your fourth specialist routes.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8 · PROCESS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Lab 8 Runs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03604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3604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1563624" cy="6126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Read the three specialists, their tools and the triage coordinator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cat lab08/agent.py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651760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980944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80944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7308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7308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3118104"/>
            <a:ext cx="1563624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Compare the three descriptions and note how each states its routing trigger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55464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84648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84648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811012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1101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12664" y="3118104"/>
            <a:ext cx="1563624" cy="6126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Launch the web IDE and select lab08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76088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adk web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059168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388352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88352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014716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14716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16368" y="3118104"/>
            <a:ext cx="1563624" cy="6126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Send a billing ticket and confirm it routes to billing_agent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79792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I was charged twice for order SG-10482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262872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9592056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592056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218420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218420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20072" y="3118104"/>
            <a:ext cx="1563624" cy="6126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Send a technical ticket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83496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My wireless keyboard will not pair with my laptop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THE POINT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LO3 — design a coordinator agent routing to specialised sub-agents.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8 ·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Coordinator / Dispatcher — A Customer Support Desk — Part 1/2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55648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82296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084832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8483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828800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Read the three specialists, their tools and the triage coordinator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81328" y="2157984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2157984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cat lab08/agent.py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871216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2871216"/>
            <a:ext cx="82296" cy="10241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9264" y="320040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32004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2871216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Compare the three descriptions and note how each states its routing trigger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986784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3986784"/>
            <a:ext cx="82296" cy="10241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69264" y="4315968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" y="4315968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81328" y="4059936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Launch the web IDE and select lab08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481328" y="4389120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27632" y="4389120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uv run adk web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5102352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5102352"/>
            <a:ext cx="82296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69264" y="5431536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9264" y="5431536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81328" y="5175504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Send a billing ticket and confirm it routes to billing_agent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481328" y="5504688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27632" y="5504688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I was charged twice for order SG-10482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8 ·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Coordinator / Dispatcher — A Customer Support Desk — Part 2/2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55648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82296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084832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8483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828800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Send a technical ticket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81328" y="2157984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2157984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My wireless keyboard will not pair with my laptop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871216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2871216"/>
            <a:ext cx="82296" cy="10241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9264" y="320040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32004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2944368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Send a returns ticket and watch the tool calls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481328" y="3273552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27632" y="3273552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Where is order SG-10915 and can I still refund it?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3986784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3986784"/>
            <a:ext cx="82296" cy="10241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9264" y="4315968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9264" y="4315968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1328" y="4059936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Send a ticket that spans two queues and observe how triage resolves 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481328" y="4389120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27632" y="4389120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My keyboard is faulty and I want my money back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5102352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77240" y="5102352"/>
            <a:ext cx="82296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69264" y="5431536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9264" y="5431536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81328" y="5102352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Add a fourth specialist of your own to sub_agents and test the routing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8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Coordinator / Dispatcher — A Customer Support Desk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96596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0584" cy="1965960"/>
          </a:xfrm>
          <a:prstGeom prst="rect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27A3E"/>
                </a:solidFill>
                <a:latin typeface="Arial"/>
              </a:rPr>
              <a:t>✅  Expected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395728"/>
            <a:ext cx="10058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Each ticket reaches the matching specialist as a transfer_to_agent event, the returns ticket triggers lookup_order and check_refund_eligibility, and your fourth specialist routes.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50208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IF IT DOESN'T 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Nothing happens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Check the .env file is in the labs folder and the key has no quotes or spaces.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8264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8264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Auth or 401 error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Re-copy the API key from AI Studio; confirm GOOGLE_GENAI_USE_VERTEXAI=0.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9288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9288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ModuleNotFoundError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Run uv sync again, and prefix commands with uv run so the venv is used.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02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Workflow Agents — Sequential, Parallel, Loop and Agent-as-a-Tool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LAB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LO3 / LO2 — orchestrate multi-agent workflows with all four ADK collaboration patterns.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Work through the four ADK workflow patterns on realistic systems: a SequentialAgent travel planner, a ParallelAgent market-research desk with a synthesis step, a LoopAgent writer/critic refinement cycle, and an AgentTool bilingual report writer. The lab makes the decisive distinction explicit — when order is enforced by code vs by the model, and when a specialist takes control (handoff) vs returns a result (AgentTool).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lab09 — four runnable multi-agent systems: agent.py (sequential travel planner), agent_parallel.py (market research), agent_loop.py (copy refinement), agent_as_tool.py (bilingual report writer).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google-adk, SequentialAgent, ParallelAgent, LoopAgent, AgentTool, output_key, google_search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The travel planner produces research, itinerary and budget in that fixed order; the research desk shows three analysts running concurrently before one synthesis; the loop stops early on approve_copy or at 3 iterations; and the report writer calls both specialists without ever transferring control.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9 · PROCESS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Lab 9 Runs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03604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3604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1563624" cy="6126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161B26"/>
                </a:solidFill>
                <a:latin typeface="Arial"/>
              </a:rPr>
              <a:t>Read the sequential pipeline and note how output_key feeds the next instruction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cat lab09/agent.py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651760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980944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80944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7308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7308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3118104"/>
            <a:ext cx="1563624" cy="6126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Launch the web IDE and select lab09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72384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adk web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855464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184648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84648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811012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1101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12664" y="3118104"/>
            <a:ext cx="1563624" cy="6126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Plan a trip and watch the three stages run in a guaranteed order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76088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Plan a 4-day trip to Tokyo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59168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388352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88352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014716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14716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16368" y="3118104"/>
            <a:ext cx="1563624" cy="6126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Read the parallel fan-out and explain why the three analysts need no ordering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79792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cat lab09/agent_parallel.py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262872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9592056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592056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218420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218420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20072" y="3118104"/>
            <a:ext cx="1563624" cy="6126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161B26"/>
                </a:solidFill>
                <a:latin typeface="Arial"/>
              </a:rPr>
              <a:t>Run the market research desk and compare its latency with the sequential pipeline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83496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Research Grab Holdings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THE POINT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LO3 / LO2 — orchestrate multi-agent workflows with all four ADK collaboration patterns.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9 ·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61B26"/>
                </a:solidFill>
                <a:latin typeface="Arial"/>
              </a:rPr>
              <a:t>Workflow Agents — Sequential, Parallel, Loop and Agent-as-a-Tool — Part 1/2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55648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82296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084832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8483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828800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Read the sequential pipeline and note how output_key feeds the next instruction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81328" y="2157984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2157984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cat lab09/agent.py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871216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2871216"/>
            <a:ext cx="82296" cy="10241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9264" y="320040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32004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2944368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Launch the web IDE and select lab09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481328" y="3273552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27632" y="3273552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uv run adk web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3986784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3986784"/>
            <a:ext cx="82296" cy="10241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9264" y="4315968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9264" y="4315968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1328" y="4059936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Plan a trip and watch the three stages run in a guaranteed order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481328" y="4389120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27632" y="4389120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Plan a 4-day trip to Tokyo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5102352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77240" y="5102352"/>
            <a:ext cx="82296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69264" y="5431536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9264" y="5431536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81328" y="5175504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Read the parallel fan-out and explain why the three analysts need no ordering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481328" y="5504688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627632" y="5504688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cat lab09/agent_parallel.py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9 ·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61B26"/>
                </a:solidFill>
                <a:latin typeface="Arial"/>
              </a:rPr>
              <a:t>Workflow Agents — Sequential, Parallel, Loop and Agent-as-a-Tool — Part 2/2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55648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82296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084832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8483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828800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Run the market research desk and compare its latency with the sequential pipeline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81328" y="2157984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2157984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Research Grab Holdings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871216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2871216"/>
            <a:ext cx="82296" cy="10241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9264" y="320040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32004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2944368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Read the loop and find BOTH stopping conditions — max_iterations and escalate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481328" y="3273552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27632" y="3273552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cat lab09/agent_loop.py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3986784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3986784"/>
            <a:ext cx="82296" cy="10241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9264" y="4315968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9264" y="4315968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1328" y="4059936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Run the refinement loop and count the iterations before approval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481328" y="4389120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27632" y="4389120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Write landing page copy for a smart water bottle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5102352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77240" y="5102352"/>
            <a:ext cx="82296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69264" y="5431536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9264" y="5431536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81328" y="5175504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Read the AgentTool example and state how tools=[AgentTool(...)] differs from sub_agents=[...]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481328" y="5504688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627632" y="5504688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cat lab09/agent_as_tool.py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9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Workflow Agents — Sequential, Parallel, Loop and Agent-as-a-Tool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96596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0584" cy="1965960"/>
          </a:xfrm>
          <a:prstGeom prst="rect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27A3E"/>
                </a:solidFill>
                <a:latin typeface="Arial"/>
              </a:rPr>
              <a:t>✅  Expected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395728"/>
            <a:ext cx="10058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The travel planner produces research, itinerary and budget in that fixed order; the research desk shows three analysts running concurrently before one synthesis; the loop stops early on approve_copy or at 3 iterations; and the report writer calls both specialists without ever transferring control.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50208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IF IT DOESN'T 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Nothing happens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Check the .env file is in the labs folder and the key has no quotes or spaces.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8264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8264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Auth or 401 error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Re-copy the API key from AI Studio; confirm GOOGLE_GENAI_USE_VERTEXAI=0.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9288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9288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ModuleNotFoundError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Run uv sync again, and prefix commands with uv run so the venv is used.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02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Add a Guardrail — Blocking Unsafe Requests with a Callback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LAB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LO3 / LO4 — implement and evaluate a safety guardrail on an agent.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Use before_model_callback to inspect every user message before it reaches the LLM, block requests containing a forbidden keyword, and record the block in session state.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lab10 — a tool-using agent that intercepts and refuses blocked requests without ever calling the model.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google-adk, before_model_callback, CallbackContext, LlmRequest, LlmResponse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The blocked keyword returns the refusal message with no model call in the trace, while normal requests still work — and your added keyword is blocked too.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10 · PROCESS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Lab 10 Runs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03604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3604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1563624" cy="6126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Read the guardrail callback and find where it returns an LlmResponse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cat lab10/agent.py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651760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980944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80944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7308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7308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3118104"/>
            <a:ext cx="1563624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Note that returning None allows the call and returning a response blocks it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55464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84648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84648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811012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1101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12664" y="3118104"/>
            <a:ext cx="1563624" cy="6126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Run the agent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76088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adk run lab10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059168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388352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88352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014716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14716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16368" y="3118104"/>
            <a:ext cx="1563624" cy="6126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Send an allowed request and confirm it reaches the model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79792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What is the weather in Singapore?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262872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9592056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592056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218420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218420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20072" y="3118104"/>
            <a:ext cx="1563624" cy="6126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Send a request containing the blocked keyword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83496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Please BLOCK this request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THE POINT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LO3 / LO4 — implement and evaluate a safety guardrail on an agent.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10 ·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61B26"/>
                </a:solidFill>
                <a:latin typeface="Arial"/>
              </a:rPr>
              <a:t>Add a Guardrail — Blocking Unsafe Requests with a Callback — Part 1/2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55648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82296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084832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8483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828800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Read the guardrail callback and find where it returns an LlmResponse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81328" y="2157984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2157984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cat lab10/agent.py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871216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2871216"/>
            <a:ext cx="82296" cy="10241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9264" y="320040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32004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2871216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Note that returning None allows the call and returning a response blocks it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986784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3986784"/>
            <a:ext cx="82296" cy="10241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69264" y="4315968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" y="4315968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81328" y="4059936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Run the agent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481328" y="4389120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27632" y="4389120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uv run adk run lab10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5102352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5102352"/>
            <a:ext cx="82296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69264" y="5431536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9264" y="5431536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81328" y="5175504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Send an allowed request and confirm it reaches the model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481328" y="5504688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27632" y="5504688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What is the weather in Singapore?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10 ·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61B26"/>
                </a:solidFill>
                <a:latin typeface="Arial"/>
              </a:rPr>
              <a:t>Add a Guardrail — Blocking Unsafe Requests with a Callback — Part 2/2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55648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82296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084832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8483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828800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Send a request containing the blocked keyword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81328" y="2157984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2157984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Please BLOCK this request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871216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2871216"/>
            <a:ext cx="82296" cy="10241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9264" y="320040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32004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2871216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Confirm the refusal message is returned and no LLM call was made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986784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3986784"/>
            <a:ext cx="82296" cy="10241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69264" y="4315968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" y="4315968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81328" y="3986784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Extend the guardrail to also block a second keyword of your choice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5102352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77240" y="5102352"/>
            <a:ext cx="82296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69264" y="5431536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9264" y="5431536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81328" y="5102352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Re-run and verify both keywords are now intercepted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10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Add a Guardrail — Blocking Unsafe Requests with a Callback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96596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0584" cy="1965960"/>
          </a:xfrm>
          <a:prstGeom prst="rect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27A3E"/>
                </a:solidFill>
                <a:latin typeface="Arial"/>
              </a:rPr>
              <a:t>✅  Expected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395728"/>
            <a:ext cx="10058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The blocked keyword returns the refusal message with no model call in the trace, while normal requests still work — and your added keyword is blocked too.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50208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IF IT DOESN'T 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Nothing happens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Check the .env file is in the labs folder and the key has no quotes or spaces.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8264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8264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Auth or 401 error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Re-copy the API key from AI Studio; confirm GOOGLE_GENAI_USE_VERTEXAI=0.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9288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9288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ModuleNotFoundError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Run uv sync again, and prefix commands with uv run so the venv is used.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02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Structured Output — Forcing Valid JSON with Pydantic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LAB 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LO3 — produce machine-readable agent output for downstream systems.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Attach a Pydantic output_schema so the agent returns a validated Recipe object with typed fields instead of free-form prose that a downstream system cannot parse.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lab11 — an agent whose every reply is schema-valid JSON.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google-adk, Pydantic BaseModel, output_schema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Every response parses as JSON matching the Recipe schema, cooking_time is an integer, and your added difficulty field is populated.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11 · PROCESS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Lab 11 Runs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03604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3604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1563624" cy="6126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Read the Recipe model and the output_schema argument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cat lab11/agent.py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651760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980944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80944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7308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7308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3118104"/>
            <a:ext cx="1563624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Note the five typed fields on the Recipe model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55464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84648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84648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811012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1101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12664" y="3118104"/>
            <a:ext cx="1563624" cy="6126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Run the agent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76088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adk run lab11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059168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388352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88352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014716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14716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16368" y="3118104"/>
            <a:ext cx="1563624" cy="6126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Request a recipe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79792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Chicken rice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262872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9592056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592056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218420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218420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20072" y="3118104"/>
            <a:ext cx="1563624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Confirm the reply is JSON with all five fields and correct types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THE POINT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LO3 — produce machine-readable agent output for downstream systems.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11 ·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Structured Output — Forcing Valid JSON with Pydantic — Part 1/2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55648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82296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084832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8483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828800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Read the Recipe model and the output_schema argument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81328" y="2157984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2157984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cat lab11/agent.py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871216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2871216"/>
            <a:ext cx="82296" cy="10241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9264" y="320040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32004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2871216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Note the five typed fields on the Recipe model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986784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3986784"/>
            <a:ext cx="82296" cy="10241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69264" y="4315968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" y="4315968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81328" y="4059936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Run the agent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481328" y="4389120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27632" y="4389120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uv run adk run lab11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5102352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5102352"/>
            <a:ext cx="82296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69264" y="5431536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9264" y="5431536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81328" y="5175504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Request a recipe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481328" y="5504688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27632" y="5504688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Chicken rice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11 ·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Structured Output — Forcing Valid JSON with Pydantic — Part 2/2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55648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82296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084832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8483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755648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Confirm the reply is JSON with all five fields and correct types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871216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871216"/>
            <a:ext cx="82296" cy="10241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69264" y="320040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9264" y="32004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81328" y="2944368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Add a difficulty field to the Recipe model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81328" y="3273552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7632" y="3273552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difficulty: str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986784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3986784"/>
            <a:ext cx="82296" cy="10241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69264" y="4315968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" y="4315968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81328" y="3986784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Re-run and confirm the new field appears in the output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5102352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77240" y="5102352"/>
            <a:ext cx="82296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69264" y="5431536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9264" y="5431536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81328" y="5102352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Note the ADK restriction that an agent with output_schema cannot also use tools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11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Structured Output — Forcing Valid JSON with Pydantic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96596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0584" cy="1965960"/>
          </a:xfrm>
          <a:prstGeom prst="rect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27A3E"/>
                </a:solidFill>
                <a:latin typeface="Arial"/>
              </a:rPr>
              <a:t>✅  Expected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395728"/>
            <a:ext cx="10058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Every response parses as JSON matching the Recipe schema, cooking_time is an integer, and your added difficulty field is populated.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50208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IF IT DOESN'T 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Nothing happens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Check the .env file is in the labs folder and the key has no quotes or spaces.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8264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8264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Auth or 401 error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Re-copy the API key from AI Studio; confirm GOOGLE_GENAI_USE_VERTEXAI=0.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9288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9288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ModuleNotFoundError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Run uv sync again, and prefix commands with uv run so the venv is used.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02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Connect External Tools with MCP — StreamableHTTP and SSE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LAB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LO3 / LO2 — integrate third-party tools through the Model Context Protocol.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Connect an ADK agent to a remote MCP server so it can use tools it does not own, using both the StreamableHTTP and SSE transports.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lab12 — agent.py (StreamableHTTP) and agent_sse.py (SSE), whose toolset is discovered at runtime from an MCP server.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google-adk, McpToolset, StreamableHTTPConnectionParams, SseConnectionParams, n8n MCP server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The agent prints the tools discovered from the MCP server and successfully invokes one; changing the server URL changes the toolset with no code edit.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12 · PROCESS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Lab 12 Runs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03604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3604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1563624" cy="6126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Read how McpToolset discovers tools from the server URL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cat lab12/agent.py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651760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980944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80944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7308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7308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3118104"/>
            <a:ext cx="1563624" cy="6126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Run the StreamableHTTP MCP agent and read the printed tool list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72384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lab12/agent.py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855464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184648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84648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811012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1101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12664" y="3118104"/>
            <a:ext cx="1563624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Send a request that exercises one of the discovered tools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059168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388352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88352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014716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14716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16368" y="3118104"/>
            <a:ext cx="1563624" cy="6126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Compare the SSE variant and note that only the connection params differ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79792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cat lab12/agent.py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262872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9592056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592056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218420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218420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20072" y="3118104"/>
            <a:ext cx="1563624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Explain when SSE is preferred over StreamableHTTP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THE POINT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LO3 / LO2 — integrate third-party tools through the Model Context Protocol.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12 ·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61B26"/>
                </a:solidFill>
                <a:latin typeface="Arial"/>
              </a:rPr>
              <a:t>Connect External Tools with MCP — StreamableHTTP and SSE — Part 1/2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55648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82296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084832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8483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828800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Read how McpToolset discovers tools from the server URL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81328" y="2157984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2157984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cat lab12/agent.py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871216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2871216"/>
            <a:ext cx="82296" cy="10241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9264" y="320040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32004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2944368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Run the StreamableHTTP MCP agent and read the printed tool list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481328" y="3273552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27632" y="3273552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uv run python lab12/agent.py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3986784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3986784"/>
            <a:ext cx="82296" cy="10241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9264" y="4315968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9264" y="4315968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1328" y="3986784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Send a request that exercises one of the discovered tools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5102352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5102352"/>
            <a:ext cx="82296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69264" y="5431536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9264" y="5431536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81328" y="5175504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Compare the SSE variant and note that only the connection params differ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481328" y="5504688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27632" y="5504688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cat lab12/agent.py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12 ·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61B26"/>
                </a:solidFill>
                <a:latin typeface="Arial"/>
              </a:rPr>
              <a:t>Connect External Tools with MCP — StreamableHTTP and SSE — Part 2/2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55648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82296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084832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8483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755648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Explain when SSE is preferred over StreamableHTTP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871216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871216"/>
            <a:ext cx="82296" cy="10241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69264" y="320040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9264" y="32004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81328" y="2871216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Point the MCP_SERVER_URL at a different MCP server and re-run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986784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986784"/>
            <a:ext cx="82296" cy="10241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9264" y="4315968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9264" y="4315968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3986784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Confirm the agent's available tools change without any change to the agent code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12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Connect External Tools with MCP — StreamableHTTP and SSE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96596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0584" cy="1965960"/>
          </a:xfrm>
          <a:prstGeom prst="rect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27A3E"/>
                </a:solidFill>
                <a:latin typeface="Arial"/>
              </a:rPr>
              <a:t>✅  Expected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395728"/>
            <a:ext cx="10058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The agent prints the tools discovered from the MCP server and successfully invokes one; changing the server URL changes the toolset with no code edit.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50208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IF IT DOESN'T 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Nothing happens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Check the .env file is in the labs folder and the key has no quotes or spaces.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8264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8264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Auth or 401 error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Re-copy the API key from AI Studio; confirm GOOGLE_GENAI_USE_VERTEXAI=0.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9288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9288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ModuleNotFoundError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Run uv sync again, and prefix commands with uv run so the venv is used.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— Build A Multi Agent App with Gemini ADK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You can now: LO3 — implement session management so an agent remembers earlier turns.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You can now: LO3 / LO4 — analyse the agent execution loop and evaluate its behaviour.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You can now: LO3 — implement agent-to-agent delegation with sub_agents.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You can now: LO3 — design a coordinator agent routing to specialised sub-agents.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You can now: LO3 / LO2 — orchestrate multi-agent workflows with all four ADK collaboration patterns.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You can now: LO3 / LO4 — implement and evaluate a safety guardrail on an agent.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Build Agentic AI RAG in Gemini ADK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RAG pipeline · loading &amp; splitting · embeddings · vector stores · retrieval · grounded answers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113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WEIGHTING 25%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Concepts — Build Agentic AI RAG in Gemini ADK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Retrieval Augmented Generation (RAG) grounds an LLM in your own documents, reducing hallucination and keeping answers current.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The RAG pipeline is: load → split → embed → store → retrieve → generate.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Loaders convert PDF, HTML, CSV, Word and web sources into a common document object.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Splitting breaks documents into chunks small enough to embed and retrieve precisely, with overlap to preserve context.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An embedding maps text to a dense vector so that semantically similar text sits close together in vector space.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WEIGHTING 25%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Key Concepts — Build Agentic AI RAG in Gemini ADK (continued)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 vector database (Chroma, FAISS, Pinecone, Milvus) stores embeddings and answers nearest-neighbour similarity queries.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Similarity search returns the closest chunks; Maximum Marginal Relevance (MMR) trades a little similarity for diversity.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In ADK, retrieval is wrapped as a tool so the agent decides when to consult the knowledge base.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RAG performance is evaluated on retrieval quality, groundedness/faithfulness, answer relevance and latency.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YOU'LL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Hands-On Labs — Build Agentic AI RAG in Gemini ADK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Lab 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Load, Split and Embed Documents into a Vector Store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Lab 14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Build the Agentic RAG Agent — Retrieval as a Tool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Lab 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Evaluate RAG Performance — Retrieval Quality and Groundedness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03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Load, Split and Embed Documents into a Vector Store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LAB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LO4 — build the ingestion half of a RAG pipeline and inspect the embeddings.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Take two product PDFs, extract their text, split it into retrievable chunks with page metadata, embed them and persist the vectors in a local Chroma database.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 persistent Chroma collection holding the chunked and embedded air-fryer product and warranty manuals.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ChromaDB, pypdf, google-adk, Gemini embeddings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lab13/chroma_db exists and contains a populated air_fryer_docs collection, and you can state how the chunking rule changed the number of stored chunks.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13 · PROCESS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Lab 13 Runs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03604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3604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1563624" cy="6126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Inspect the two source PDFs the agent will be grounded 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ls lab13/*.pdf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651760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980944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80944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7308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7308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3118104"/>
            <a:ext cx="1563624" cy="6126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Read the extraction function and note the page number kept as metadata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72384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cat lab13/agent.py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855464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184648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84648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811012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1101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12664" y="3118104"/>
            <a:ext cx="1563624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Identify the chunking rule and the minimum chunk length filter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059168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388352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88352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014716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14716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16368" y="3118104"/>
            <a:ext cx="1563624" cy="6126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Run the agent once to trigger ingestion into ChromaDB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79792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adk run lab13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262872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9592056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592056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218420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218420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20072" y="3118104"/>
            <a:ext cx="1563624" cy="6126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Confirm the persistent vector store was created on disk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83496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ls lab13/chroma_db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THE POINT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LO4 — build the ingestion half of a RAG pipeline and inspect the embeddings.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13 ·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Load, Split and Embed Documents into a Vector Store — Part 1/2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55648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82296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084832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8483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828800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Inspect the two source PDFs the agent will be grounded 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81328" y="2157984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2157984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ls lab13/*.pdf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871216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2871216"/>
            <a:ext cx="82296" cy="10241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9264" y="320040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32004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2944368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Read the extraction function and note the page number kept as metadata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481328" y="3273552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27632" y="3273552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cat lab13/agent.py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3986784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3986784"/>
            <a:ext cx="82296" cy="10241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9264" y="4315968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9264" y="4315968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1328" y="3986784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Identify the chunking rule and the minimum chunk length filter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5102352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5102352"/>
            <a:ext cx="82296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69264" y="5431536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9264" y="5431536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81328" y="5175504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Run the agent once to trigger ingestion into ChromaDB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481328" y="5504688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27632" y="5504688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uv run adk run lab13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13 ·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Load, Split and Embed Documents into a Vector Store — Part 2/2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55648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82296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084832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8483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828800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Confirm the persistent vector store was created on disk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81328" y="2157984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2157984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ls lab13/chroma_db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871216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2871216"/>
            <a:ext cx="82296" cy="10241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9264" y="320040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32004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2871216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Explain why chunks shorter than 50 characters are discarded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986784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3986784"/>
            <a:ext cx="82296" cy="10241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69264" y="4315968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" y="4315968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81328" y="4059936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Change the chunk rule to split on single newlines, delete chroma_db, and re-ingest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481328" y="4389120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27632" y="4389120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rm -rf lab13/chroma_db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5102352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5102352"/>
            <a:ext cx="82296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69264" y="5431536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9264" y="5431536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81328" y="5102352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Compare the resulting chunk count and note the effect on retrieval precision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13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Load, Split and Embed Documents into a Vector Store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96596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0584" cy="1965960"/>
          </a:xfrm>
          <a:prstGeom prst="rect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27A3E"/>
                </a:solidFill>
                <a:latin typeface="Arial"/>
              </a:rPr>
              <a:t>✅  Expected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395728"/>
            <a:ext cx="10058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lab13/chroma_db exists and contains a populated air_fryer_docs collection, and you can state how the chunking rule changed the number of stored chunks.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50208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IF IT DOESN'T 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Nothing happens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Check the .env file is in the labs folder and the key has no quotes or spaces.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8264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8264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Auth or 401 error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Re-copy the API key from AI Studio; confirm GOOGLE_GENAI_USE_VERTEXAI=0.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9288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9288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ModuleNotFoundError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Run uv sync again, and prefix commands with uv run so the venv is used.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03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Build the Agentic RAG Agent — Retrieval as a Tool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LAB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LO4 / LO3 — wrap retrieval as a tool so the agent grounds its answers in your documents.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Complete the RAG loop: expose the vector search as an ADK tool, let the agent decide when to retrieve, and require it to cite the source document and page.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lab14 — a grounded question-answering agent over the air-fryer manuals with citations.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google-adk, ChromaDB, similarity search, Gemini 3.8 Flash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Both document questions are answered with the correct source and page cited, the out-of-scope question is refused rather than hallucinated, and you can see the retrieved chunks.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14 · PROCESS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Lab 14 Runs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03604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3604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1563624" cy="6126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Read the retrieval tool and how the query is embedded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cat lab14/agent.py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651760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980944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80944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7308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7308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3118104"/>
            <a:ext cx="1563624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Answers must come only from retrieved context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55464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84648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84648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811012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1101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12664" y="3118104"/>
            <a:ext cx="1563624" cy="6126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Run the RAG agent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76088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adk run lab14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059168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388352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88352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014716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14716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16368" y="3118104"/>
            <a:ext cx="1563624" cy="6126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Ask a question answerable from the product manual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79792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What temperature should I use to air fry chicken wings?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262872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9592056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592056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218420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218420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20072" y="3118104"/>
            <a:ext cx="1563624" cy="6126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Ask a question answerable only from the warranty document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83496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How long is the warranty period and what does it…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THE POINT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LO4 / LO3 — wrap retrieval as a tool so the agent grounds its answers in your documents.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14 ·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Build the Agentic RAG Agent — Retrieval as a Tool — Part 1/2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55648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82296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084832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8483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828800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Read the retrieval tool and how the query is embedded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81328" y="2157984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2157984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cat lab14/agent.py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871216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2871216"/>
            <a:ext cx="82296" cy="10241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9264" y="320040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32004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2871216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Answers must come only from retrieved context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986784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3986784"/>
            <a:ext cx="82296" cy="10241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69264" y="4315968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" y="4315968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81328" y="4059936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Run the RAG agent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481328" y="4389120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27632" y="4389120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uv run adk run lab14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5102352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5102352"/>
            <a:ext cx="82296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69264" y="5431536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9264" y="5431536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81328" y="5175504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Ask a question answerable from the product manual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481328" y="5504688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27632" y="5504688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What temperature should I use to air fry chicken wings?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14 ·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Build the Agentic RAG Agent — Retrieval as a Tool — Part 2/2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55648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82296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084832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8483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828800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Ask a question answerable only from the warranty document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81328" y="2157984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2157984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How long is the warranty period and what does it exclude?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871216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2871216"/>
            <a:ext cx="82296" cy="10241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9264" y="320040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32004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2944368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Ask a question the documents do not cover and confirm the agent declines rather than invents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481328" y="3273552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27632" y="3273552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What is the share price of the manufacturer?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3986784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3986784"/>
            <a:ext cx="82296" cy="10241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9264" y="4315968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9264" y="4315968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1328" y="4059936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In adk web, inspect the retrieval function_response to see the chunks that were retrieved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481328" y="4389120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27632" y="4389120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uv run adk web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5102352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77240" y="5102352"/>
            <a:ext cx="82296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69264" y="5431536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9264" y="5431536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81328" y="5102352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Increase the number of retrieved chunks (n_results) and re-run the same questions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14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Build the Agentic RAG Agent — Retrieval as a Tool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96596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0584" cy="1965960"/>
          </a:xfrm>
          <a:prstGeom prst="rect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27A3E"/>
                </a:solidFill>
                <a:latin typeface="Arial"/>
              </a:rPr>
              <a:t>✅  Expected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395728"/>
            <a:ext cx="10058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Both document questions are answered with the correct source and page cited, the out-of-scope question is refused rather than hallucinated, and you can see the retrieved chunks.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50208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IF IT DOESN'T 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Nothing happens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Check the .env file is in the labs folder and the key has no quotes or spaces.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8264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8264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Auth or 401 error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Re-copy the API key from AI Studio; confirm GOOGLE_GENAI_USE_VERTEXAI=0.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9288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9288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ModuleNotFoundError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Run uv sync again, and prefix commands with uv run so the venv is used.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03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Evaluate RAG Performance — Retrieval Quality and Groundedness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LAB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LO4 — evaluate the performance effectiveness of a RAG implementation.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Build a small evaluation set and score your RAG agent on retrieval hit rate, groundedness, answer relevance and latency, then tune one parameter and measure the improvement.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 completed RAG evaluation table with a before-and-after comparison for one tuned parameter.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lab15, ChromaDB, similarity search vs MMR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 completed evaluation table with before-and-after figures for retrieval hit rate, groundedness and latency, plus a written, evidence-based tuning recommendation.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15 · PROCESS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Lab 15 Runs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03604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3604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1563624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161B26"/>
                </a:solidFill>
                <a:latin typeface="Arial"/>
              </a:rPr>
              <a:t>Write eight test questions: six answerable from the PDFs, two deliberately out of scope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51760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980944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80944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07308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07308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08960" y="3118104"/>
            <a:ext cx="1563624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161B26"/>
                </a:solidFill>
                <a:latin typeface="Arial"/>
              </a:rPr>
              <a:t>For each question record whether the correct chunk was retrieved (retrieval hit)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855464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184648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84648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811012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1101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12664" y="3118104"/>
            <a:ext cx="1563624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Record whether every claim is grounded in the retrieved text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59168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88352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88352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014716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14716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16368" y="3118104"/>
            <a:ext cx="1563624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161B26"/>
                </a:solidFill>
                <a:latin typeface="Arial"/>
              </a:rPr>
              <a:t>Record whether the answer actually addresses the question (relevance) and its response time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262872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9592056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92056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218420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218420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20072" y="3118104"/>
            <a:ext cx="1563624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161B26"/>
                </a:solidFill>
                <a:latin typeface="Arial"/>
              </a:rPr>
              <a:t>Compute the hit rate, groundedness rate and mean latency across the eight questions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THE POINT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LO4 — evaluate the performance effectiveness of a RAG implementation.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15 ·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61B26"/>
                </a:solidFill>
                <a:latin typeface="Arial"/>
              </a:rPr>
              <a:t>Evaluate RAG Performance — Retrieval Quality and Groundedness — Part 1/2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55648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82296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084832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8483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755648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Write eight test questions: six answerable from the PDFs, two deliberately out of scope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871216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871216"/>
            <a:ext cx="82296" cy="10241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69264" y="320040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9264" y="32004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81328" y="2871216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For each question record whether the correct chunk was retrieved (retrieval hit)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986784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986784"/>
            <a:ext cx="82296" cy="10241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9264" y="4315968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9264" y="4315968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3986784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Record whether every claim is grounded in the retrieved text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5102352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5102352"/>
            <a:ext cx="82296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69264" y="5431536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9264" y="5431536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81328" y="5102352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Record whether the answer actually addresses the question (relevance) and its response time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15 ·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61B26"/>
                </a:solidFill>
                <a:latin typeface="Arial"/>
              </a:rPr>
              <a:t>Evaluate RAG Performance — Retrieval Quality and Groundedness — Part 2/2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55648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82296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084832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8483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755648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Compute the hit rate, groundedness rate and mean latency across the eight questions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871216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871216"/>
            <a:ext cx="82296" cy="10241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69264" y="320040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9264" y="32004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81328" y="2871216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Tune one parameter — chunk size, n_results, or switch similarity search to MMR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986784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986784"/>
            <a:ext cx="82296" cy="10241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9264" y="4315968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9264" y="4315968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3986784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Re-run the same eight questions and recompute all three metrics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5102352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5102352"/>
            <a:ext cx="82296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69264" y="5431536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9264" y="5431536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81328" y="5102352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State which parameter change you would keep and justify it with your numbers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15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Evaluate RAG Performance — Retrieval Quality and Groundedness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96596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0584" cy="1965960"/>
          </a:xfrm>
          <a:prstGeom prst="rect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27A3E"/>
                </a:solidFill>
                <a:latin typeface="Arial"/>
              </a:rPr>
              <a:t>✅  Expected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395728"/>
            <a:ext cx="10058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A completed evaluation table with before-and-after figures for retrieval hit rate, groundedness and latency, plus a written, evidence-based tuning recommendation.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50208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IF IT DOESN'T 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Nothing happens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Check the .env file is in the labs folder and the key has no quotes or spaces.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8264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8264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Auth or 401 error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Re-copy the API key from AI Studio; confirm GOOGLE_GENAI_USE_VERTEXAI=0.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9288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9288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ModuleNotFoundError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Run uv sync again, and prefix commands with uv run so the venv is used.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— Build Agentic AI RAG in Gemini ADK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You can now: LO4 — build the ingestion half of a RAG pipeline and inspect the embeddings.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You can now: LO4 / LO3 — wrap retrieval as a tool so the agent grounds its answers in your documents.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You can now: LO4 — evaluate the performance effectiveness of a RAG implementation.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Build an Agentic AI App with Gemini Agent ADK and Streamlit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From agent to product · Streamlit chat UI · async Runner · deployment &amp; feasibility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133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WEIGHTING 15%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61B26"/>
                </a:solidFill>
                <a:latin typeface="Arial"/>
              </a:rPr>
              <a:t>Key Concepts — Build an Agentic AI App with Gemini Agent ADK and Streamlit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 production agent app needs a user interface, session handling, error handling and API-key management.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Streamlit turns a Python script into a web app, making it the fastest route from an ADK agent to a usable product.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st.session_state persists the ADK SessionService and the chat history across Streamlit re-runs.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WEIGHTING 15%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61B26"/>
                </a:solidFill>
                <a:latin typeface="Arial"/>
              </a:rPr>
              <a:t>Key Concepts — Build an Agentic AI App with Gemini Agent ADK and Streamlit (continued)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The ADK Runner is async, so a Streamlit app drives it through asyncio.run() inside the request handler.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Secrets belong in .env and never in source control or in the repository you push to GitHub.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Assessing feasibility means weighing accuracy, latency, token cost, maintainability and governance against the business benefit.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YOU'LL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61B26"/>
                </a:solidFill>
                <a:latin typeface="Arial"/>
              </a:rPr>
              <a:t>Hands-On Labs — Build an Agentic AI App with Gemini Agent ADK and Streamlit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Lab 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Declarative Agents — Configuring a Multi-Agent System in YAML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Lab 17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Ship the Agent as a Web App with Streamlit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Lab 18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Capstone — Build Your Own Multi-Agent Application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04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Declarative Agents — Configuring a Multi-Agent System in YAML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LAB 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LO2 / LO3 — separate agent configuration from code to improve maintainability.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Define a five-specialist transport assistant entirely in YAML config files, with no Python agent code, and assess what this buys you for maintainability and governance.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lab16 — a root agent with MRT, bus, taxi, bike and walk specialists, all declared in YAML.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google-adk YAML config, LlmAgent, Gemini 3.8 Flash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All five specialists route correctly, and your sixth agent works after editing YAML only — no Python file was modified.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16 · PROCESS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Lab 16 Runs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03604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3604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1563624" cy="6126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List the YAML files and note one file per 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ls lab16/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651760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980944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80944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7308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7308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3118104"/>
            <a:ext cx="1563624" cy="6126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Read the root agent config and its sub_agents config_path list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72384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cat lab16/root_agent.yaml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855464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184648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84648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811012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1101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12664" y="3118104"/>
            <a:ext cx="1563624" cy="6126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161B26"/>
                </a:solidFill>
                <a:latin typeface="Arial"/>
              </a:rPr>
              <a:t>Read one specialist config and compare its fields to the Python Agent(...) arguments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76088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cat lab16/mrt_agent.yaml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59168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388352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88352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014716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14716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16368" y="3118104"/>
            <a:ext cx="1563624" cy="6126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Run the YAML-configured agent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79792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adk web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262872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9592056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592056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218420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218420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20072" y="3118104"/>
            <a:ext cx="1563624" cy="6126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Ask an MRT question and confirm it routes to mrt_agent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83496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What is the fastest MRT route from Bugis to Woodlands?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THE POINT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LO2 / LO3 — separate agent configuration from code to improve maintainability.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16 ·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61B26"/>
                </a:solidFill>
                <a:latin typeface="Arial"/>
              </a:rPr>
              <a:t>Declarative Agents — Configuring a Multi-Agent System in YAML — Part 1/2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55648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82296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084832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8483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828800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List the YAML files and note one file per agent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81328" y="2157984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2157984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ls lab16/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871216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2871216"/>
            <a:ext cx="82296" cy="10241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9264" y="320040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32004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2944368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Read the root agent config and its sub_agents config_path list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481328" y="3273552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27632" y="3273552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cat lab16/root_agent.yaml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3986784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3986784"/>
            <a:ext cx="82296" cy="10241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9264" y="4315968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9264" y="4315968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1328" y="4059936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Read one specialist config and compare its fields to the Python Agent(...) arguments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481328" y="4389120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27632" y="4389120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cat lab16/mrt_agent.yaml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5102352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77240" y="5102352"/>
            <a:ext cx="82296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69264" y="5431536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9264" y="5431536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81328" y="5175504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Run the YAML-configured agent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481328" y="5504688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627632" y="5504688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uv run adk web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16 ·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61B26"/>
                </a:solidFill>
                <a:latin typeface="Arial"/>
              </a:rPr>
              <a:t>Declarative Agents — Configuring a Multi-Agent System in YAML — Part 2/2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55648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82296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084832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8483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828800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Ask an MRT question and confirm it routes to mrt_agent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81328" y="2157984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2157984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What is the fastest MRT route from Bugis to Woodlands?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871216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2871216"/>
            <a:ext cx="82296" cy="10241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9264" y="320040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32004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2871216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Ask a cycling question and confirm it routes to bike_agent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986784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3986784"/>
            <a:ext cx="82296" cy="10241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69264" y="4315968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" y="4315968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81328" y="3986784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Add a sixth specialist by creating a new YAML file and referencing it in root_agent.yaml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5102352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77240" y="5102352"/>
            <a:ext cx="82296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69264" y="5431536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9264" y="5431536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81328" y="5102352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Re-run and confirm the new specialist is routed to without touching any Python file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16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Declarative Agents — Configuring a Multi-Agent System in YAML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96596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0584" cy="1965960"/>
          </a:xfrm>
          <a:prstGeom prst="rect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27A3E"/>
                </a:solidFill>
                <a:latin typeface="Arial"/>
              </a:rPr>
              <a:t>✅  Expected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395728"/>
            <a:ext cx="10058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All five specialists route correctly, and your sixth agent works after editing YAML only — no Python file was modified.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50208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IF IT DOESN'T 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Nothing happens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Check the .env file is in the labs folder and the key has no quotes or spaces.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8264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8264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Auth or 401 error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Re-copy the API key from AI Studio; confirm GOOGLE_GENAI_USE_VERTEXAI=0.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9288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9288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ModuleNotFoundError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Run uv sync again, and prefix commands with uv run so the venv is used.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04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Ship the Agent as a Web App with Streamlit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LAB 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LO3 — deploy a multi-agent system behind a usable chat interface.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Wrap the sequential transport agent in a Streamlit chat UI, wiring the async ADK Runner and persisting the session across Streamlit re-runs so the conversation survives.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lab17 — a browser chat application backed by the multi-agent transport workflow.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Streamlit, google-adk Runner, InMemorySessionService, asyncio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The Streamlit app answers a journey query, retains history across follow-up turns, and your Clear chat button empties the conversation without restarting the server.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17 · PROCESS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Lab 17 Runs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03604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3604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1563624" cy="6126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Read how the ADK session service is stored in st.session_state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cat lab17/app.py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651760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980944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80944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7308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7308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3118104"/>
            <a:ext cx="1563624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The async Runner is driven by asyncio.run in the handler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55464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84648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84648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811012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1101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12664" y="3118104"/>
            <a:ext cx="1563624" cy="6126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Launch the Streamlit application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76088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streamlit run lab17/app.py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059168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388352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88352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014716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14716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16368" y="3118104"/>
            <a:ext cx="1563624" cy="6126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Open the app in the browser and submit a journey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79792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From Tampines to Orchard Road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262872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9592056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592056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218420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218420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20072" y="3118104"/>
            <a:ext cx="1563624" cy="6126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Send a follow-up question and confirm the conversation history is retained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83496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What if I cycle instead?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THE POINT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LO3 — deploy a multi-agent system behind a usable chat interface.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17 ·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Ship the Agent as a Web App with Streamlit — Part 1/2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55648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82296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084832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8483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828800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Read how the ADK session service is stored in st.session_state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81328" y="2157984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2157984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cat lab17/app.py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871216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2871216"/>
            <a:ext cx="82296" cy="10241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9264" y="320040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32004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2871216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The async Runner is driven by asyncio.run in the handler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986784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3986784"/>
            <a:ext cx="82296" cy="10241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69264" y="4315968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" y="4315968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81328" y="4059936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Launch the Streamlit application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481328" y="4389120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27632" y="4389120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uv run streamlit run lab17/app.py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5102352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5102352"/>
            <a:ext cx="82296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69264" y="5431536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9264" y="5431536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81328" y="5175504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Open the app in the browser and submit a journey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481328" y="5504688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27632" y="5504688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From Tampines to Orchard Road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17 ·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Ship the Agent as a Web App with Streamlit — Part 2/2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55648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82296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084832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8483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828800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Send a follow-up question and confirm the conversation history is retained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81328" y="2157984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2157984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What if I cycle instead?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871216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2871216"/>
            <a:ext cx="82296" cy="10241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9264" y="320040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32004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2871216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Refresh the browser and observe what happens to the session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986784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3986784"/>
            <a:ext cx="82296" cy="10241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69264" y="4315968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" y="4315968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81328" y="3986784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Change the page title and icon in st.set_page_config and reload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5102352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77240" y="5102352"/>
            <a:ext cx="82296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69264" y="5431536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9264" y="5431536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81328" y="5102352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Add a sidebar Clear chat button that resets st.session_state.messages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17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Ship the Agent as a Web App with Streamlit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96596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0584" cy="1965960"/>
          </a:xfrm>
          <a:prstGeom prst="rect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27A3E"/>
                </a:solidFill>
                <a:latin typeface="Arial"/>
              </a:rPr>
              <a:t>✅  Expected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395728"/>
            <a:ext cx="10058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The Streamlit app answers a journey query, retains history across follow-up turns, and your Clear chat button empties the conversation without restarting the server.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50208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IF IT DOESN'T 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Nothing happens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Check the .env file is in the labs folder and the key has no quotes or spaces.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8264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8264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Auth or 401 error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Re-copy the API key from AI Studio; confirm GOOGLE_GENAI_USE_VERTEXAI=0.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9288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9288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ModuleNotFoundError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Run uv sync again, and prefix commands with uv run so the venv is used.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04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Capstone — Build Your Own Multi-Agent Application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LAB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LO1 / LO2 / LO3 / LO4 — design a multi-agent solution and assess its feasibility.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In groups of three to five, design and build a multi-agent ADK application for a use case in your own industry, then present it with a feasibility assessment.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 working multi-agent application with at least three agents, at least two tools, session memory and a documented feasibility assessment.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google-adk, sub_agents or SequentialAgent, custom tools, optional RAG and Streamlit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 running application with three or more agents and two or more tools, demonstrated live, plus a feasibility assessment stating whether you would recommend production deployment and on what evidence.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18 · PROCESS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Lab 18 Runs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03604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3604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1563624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161B26"/>
                </a:solidFill>
                <a:latin typeface="Arial"/>
              </a:rPr>
              <a:t>Form a group of three to five and choose an industrial use case from your own sector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51760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980944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80944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07308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07308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08960" y="3118104"/>
            <a:ext cx="1563624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161B26"/>
                </a:solidFill>
                <a:latin typeface="Arial"/>
              </a:rPr>
              <a:t>Identify the specialist roles and draw the agent topology — coordinator or sequential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855464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184648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84648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811012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1101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12664" y="3118104"/>
            <a:ext cx="1563624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List the tools each agent needs and which are custom functions versus built-in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59168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88352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88352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014716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14716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16368" y="3118104"/>
            <a:ext cx="1563624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Build the agents, using the closest lab as your template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262872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9592056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92056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218420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218420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20072" y="3118104"/>
            <a:ext cx="1563624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161B26"/>
                </a:solidFill>
                <a:latin typeface="Arial"/>
              </a:rPr>
              <a:t>Add session memory so the application handles multi-turn conversations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THE POINT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LO1 / LO2 / LO3 / LO4 — design a multi-agent solution and assess its feasibility.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18 ·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Capstone — Build Your Own Multi-Agent Application — Part 1/3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55648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82296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084832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8483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755648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Form a group of three to five and choose an industrial use case from your own sector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871216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871216"/>
            <a:ext cx="82296" cy="10241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69264" y="320040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9264" y="32004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81328" y="2871216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Identify the specialist roles and draw the agent topology — coordinator or sequential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986784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986784"/>
            <a:ext cx="82296" cy="10241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9264" y="4315968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9264" y="4315968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3986784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List the tools each agent needs and which are custom functions versus built-in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5102352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5102352"/>
            <a:ext cx="82296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69264" y="5431536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9264" y="5431536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81328" y="5102352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Build the agents, using the closest lab as your template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18 ·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Capstone — Build Your Own Multi-Agent Application — Part 2/3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55648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82296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084832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8483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755648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Add session memory so the application handles multi-turn conversations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871216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871216"/>
            <a:ext cx="82296" cy="10241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69264" y="320040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9264" y="32004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81328" y="2871216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Add a guardrail or a structured output schema appropriate to your use case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986784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986784"/>
            <a:ext cx="82296" cy="10241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9264" y="4315968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9264" y="4315968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3986784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Test with at least five realistic prompts and record where the agent fails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5102352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5102352"/>
            <a:ext cx="82296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69264" y="5431536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9264" y="5431536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81328" y="5102352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Assess feasibility: accuracy, latency, token cost, maintainability and governance risk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18 ·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Capstone — Build Your Own Multi-Agent Application — Part 3/3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55648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82296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084832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8483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755648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Present the application and the feasibility assessment to the class in five minutes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18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Capstone — Build Your Own Multi-Agent Application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96596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0584" cy="1965960"/>
          </a:xfrm>
          <a:prstGeom prst="rect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27A3E"/>
                </a:solidFill>
                <a:latin typeface="Arial"/>
              </a:rPr>
              <a:t>✅  Expected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395728"/>
            <a:ext cx="10058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A running application with three or more agents and two or more tools, demonstrated live, plus a feasibility assessment stating whether you would recommend production deployment and on what evidence.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50208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IF IT DOESN'T 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Nothing happens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Check the .env file is in the labs folder and the key has no quotes or spaces.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8264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8264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Auth or 401 error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Re-copy the API key from AI Studio; confirm GOOGLE_GENAI_USE_VERTEXAI=0.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9288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9288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ModuleNotFoundError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Run uv sync again, and prefix commands with uv run so the venv is used.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61B26"/>
                </a:solidFill>
                <a:latin typeface="Arial"/>
              </a:rPr>
              <a:t>Recap — Build an Agentic AI App with Gemini Agent ADK and Streamlit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You can now: LO2 / LO3 — separate agent configuration from code to improve maintainability.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You can now: LO3 — deploy a multi-agent system behind a usable chat interface.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You can now: LO1 / LO2 / LO3 / LO4 — design a multi-agent solution and assess its feasibility.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WRAP-UP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Course Summary &amp; Next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154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LEARNING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You Achieved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LO1 · Analysed LLM applications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Explained how LLMs work and identified Generative AI use cases across finance, marketing, education, healthcare and legal.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LO2 · Established Gemini designs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Chose Gemini models and tuned parameters, and assessed the improvements agents bring to engineering processes.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LO3 · Developed LLM applications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Built single agents, tool-using agents, multi-agent handoff, sequential workflows, guardrails, structured output and MCP integrations.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LO4 · Evaluated RAG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Built an agentic RAG pipeline over your own PDFs and measured retrieval hit rate, groundedness and latency.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Continue Your Learning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Official ADK docs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https://google.github.io/adk-docs/ — the reference for every ADK class and pattern.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Google AI Studio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https://aistudio.google.com — prototype prompts and manage your API keys.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Rebuild the labs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Redo each lab from a blank file until the agent pattern is automatic.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Extend the capstone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Add RAG, a guardrail and a Streamlit UI to your own multi-agent application.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Deploy it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Take your agent to Cloud Run or Vertex AI Agent Engine for production use.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Share it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Publish your agent to GitHub and gather feedback from real users.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CONTINUE WITH TERTIARY INFOTECH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Recommended Courses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683971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1850745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1850745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9427464" cy="5010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WSQ - Develop Generative AI Solutions with Azure OpenAI Service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704795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704795"/>
            <a:ext cx="91440" cy="683971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33272" y="277246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3272" y="277246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64792" y="2832811"/>
            <a:ext cx="9427464" cy="5010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WSQ - Mastering Prompt Engineering for Generative AI Content Creation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62651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626510"/>
            <a:ext cx="91440" cy="683971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5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5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754526"/>
            <a:ext cx="9427464" cy="5010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WSQ - Build LLM Applications Using Langchain and Flowise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/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548225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548225"/>
            <a:ext cx="91440" cy="683971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3272" y="461589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2" y="461589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64792" y="4676241"/>
            <a:ext cx="9427464" cy="5010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WSQ - Digital Transformation and Business Innovation with Generative AI (GenAI)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546994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5469940"/>
            <a:ext cx="91440" cy="683971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537605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537605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5597956"/>
            <a:ext cx="9427464" cy="5010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WSQ - Practical Image Generation Using GAN, VAE, and Diffusion Models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/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WE'RE HERE TO HELP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Support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If you have any enquiries during or after the class, you can contact us below.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Email: enquiry@tertiaryinfotech.com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Tel: +65 6100 0613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Website: www.tertiarycourses.com.sg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LMS / TMS: https://lms-tms.tertiaryinfotech.com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WRAP-UP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Written Assessment (SAQ)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1 hour · open book · short-answer knowledge questions.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Practical Performance (PP)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1 hour · open book · hands-on Gemini ADK agent build tasks.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Digital attendance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Remember to take the Assessment digital attendance (TRAQOM) before you start.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Submit on the LMS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Upload your completed answers at https://lms-tms.tertiaryinfotech.com/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159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ON ASSESSMENT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1819656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03604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3604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1563624" cy="6126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TRAQOM survey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Scan the LMS QR code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651760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980944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80944" y="2148840"/>
            <a:ext cx="1819656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7308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7308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3118104"/>
            <a:ext cx="1563624" cy="6126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Digital attendance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72384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Scan the SSG assessment QR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855464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184648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84648" y="2148840"/>
            <a:ext cx="1819656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811012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1101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12664" y="3118104"/>
            <a:ext cx="1563624" cy="6126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Sit WA then PP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76088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Open book · 1 hour each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59168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388352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88352" y="2148840"/>
            <a:ext cx="1819656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014716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14716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16368" y="3118104"/>
            <a:ext cx="1563624" cy="6126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Submit on the LMS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79792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Upload your answers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262872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9592056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592056" y="2148840"/>
            <a:ext cx="1819656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218420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218420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20072" y="3118104"/>
            <a:ext cx="1563624" cy="6126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Sign the record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83496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Sign the Summary Record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REMEMBER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All five steps are mandatory for WSQ funding — missing the digital attendance or the TRAQOM survey can invalidate your claim.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TRAQOM · SSG DIGITAL ATTENDANCE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Three times a day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Take the AM, PM and Assessment digital attendance — mandatory for every WSQ-funded course.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Trainer shows the QR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The trainer or administrator displays the digital attendance QR code from the SSG portal.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Scan and submit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Scan the QR code with your mobile phone camera and submit your attendance.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75% minimum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 minimum of 75% attendance is required to be eligible for assessment and funding.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HAPPY BUILDING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Thank You!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You can now design, build and evaluate multi-agent AI applications with the Gemini Agent Development Kit.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162</a:t>
            </a:r>
          </a:p>
        </p:txBody>
      </p:sp>
    </p:spTree>
  </p:cSld>
  <p:clrMapOvr>
    <a:masterClrMapping/>
  </p:clrMapOvr>
  <p:transition spd="fast" advClick="1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